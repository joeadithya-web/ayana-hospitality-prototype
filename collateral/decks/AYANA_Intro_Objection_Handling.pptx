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image" Target="../media/image-3-1.png"/><Relationship Id="rId5" Type="http://schemas.openxmlformats.org/officeDocument/2006/relationships/image" Target="../media/image-3-1.png"/><Relationship Id="rId6" Type="http://schemas.openxmlformats.org/officeDocument/2006/relationships/image" Target="../media/image-3-1.png"/><Relationship Id="rId7" Type="http://schemas.openxmlformats.org/officeDocument/2006/relationships/image" Target="../media/image-3-1.png"/><Relationship Id="rId8" Type="http://schemas.openxmlformats.org/officeDocument/2006/relationships/image" Target="../media/image-3-1.png"/><Relationship Id="rId9" Type="http://schemas.openxmlformats.org/officeDocument/2006/relationships/image" Target="../media/image-3-1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image" Target="../media/image-4-2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2.png"/><Relationship Id="rId5" Type="http://schemas.openxmlformats.org/officeDocument/2006/relationships/image" Target="../media/image-6-5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image" Target="../media/image-6-2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2.png"/><Relationship Id="rId4" Type="http://schemas.openxmlformats.org/officeDocument/2006/relationships/image" Target="../media/image-21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051560"/>
            <a:ext cx="1005840" cy="100584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3" name="Image 0" descr="/private/tmp/claude-501/-Users-ravikumarkrishnamoorthy-Desktop-JORA-AYANA/c1054895-a8f4-4cc3-8515-2efc1287a3ff/scratchpad/decks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745" y="1192378"/>
            <a:ext cx="724205" cy="7242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AYANA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4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 ·  TO  ·  ROOM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981048" y="35204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5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Book, verify, personalise, arrive, and check in — with minimal waiting.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38248" y="4160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Home-to-Room hospitality platform for India’s business and airport hotels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 &amp;  Objection Handling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we’ll cover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20240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92024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problem, and what AYANA 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235440" y="19202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57860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578608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578608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AYANA fits around your PMS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235440" y="257860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23697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23697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236976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Ready-to-Room Guarantee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235440" y="323697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895344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895344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3895344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 &amp; hotel-side experience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35440" y="389534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553712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8680" y="4553712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553712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Corporate, group, and concierge channels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0" y="455371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212080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5212080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54480" y="52120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demonstrable today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35440" y="521208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870448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5870448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554480" y="5870448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market &amp; pilot 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35440" y="5870448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40080" y="6528816"/>
            <a:ext cx="1088136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68680" y="6528816"/>
            <a:ext cx="640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54480" y="6528816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 — direct answers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235440" y="652881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Hospitality still runs on repetition and waiting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TRAVELLER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05840" y="2743200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027" y="2775387"/>
            <a:ext cx="228234" cy="2282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26883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across multiple sites, call hotels, negotiate pricing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05840" y="3364992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0" name="Image 1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027" y="3397179"/>
            <a:ext cx="228234" cy="22823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63040" y="3310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the same personal details at every property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005840" y="3986784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3" name="Image 2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027" y="4018971"/>
            <a:ext cx="228234" cy="22823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39319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at reception for ID, payment, and room assignment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1005840" y="4608576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6" name="Image 3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027" y="4640763"/>
            <a:ext cx="228234" cy="22823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53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pickup, food, and local travel separately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5230368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9" name="Image 4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7" y="5262555"/>
            <a:ext cx="228234" cy="22823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517550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again at checkout to settle up and leave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21792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12000"/>
              </a:srgbClr>
            </a:outerShdw>
          </a:effectLst>
        </p:spPr>
      </p:sp>
      <p:sp>
        <p:nvSpPr>
          <p:cNvPr id="22" name="Text 15"/>
          <p:cNvSpPr/>
          <p:nvPr/>
        </p:nvSpPr>
        <p:spPr>
          <a:xfrm>
            <a:off x="6583680" y="22402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HOTEL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6583680" y="2743200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24" name="Image 5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867" y="2775387"/>
            <a:ext cx="228234" cy="22823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040880" y="268833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front-desk work for every single arrival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6583680" y="3364992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27" name="Image 6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867" y="3397179"/>
            <a:ext cx="228234" cy="22823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040880" y="33101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add-on and upsell revenue at check-in</a:t>
            </a:r>
            <a:endParaRPr lang="en-US" sz="1300" dirty="0"/>
          </a:p>
        </p:txBody>
      </p:sp>
      <p:sp>
        <p:nvSpPr>
          <p:cNvPr id="29" name="Shape 20"/>
          <p:cNvSpPr/>
          <p:nvPr/>
        </p:nvSpPr>
        <p:spPr>
          <a:xfrm>
            <a:off x="6583680" y="3986784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30" name="Image 7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5867" y="4018971"/>
            <a:ext cx="228234" cy="228234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040880" y="39319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guest data across systems and visits</a:t>
            </a:r>
            <a:endParaRPr lang="en-US" sz="1300" dirty="0"/>
          </a:p>
        </p:txBody>
      </p:sp>
      <p:sp>
        <p:nvSpPr>
          <p:cNvPr id="32" name="Shape 22"/>
          <p:cNvSpPr/>
          <p:nvPr/>
        </p:nvSpPr>
        <p:spPr>
          <a:xfrm>
            <a:off x="6583680" y="4608576"/>
            <a:ext cx="292608" cy="292608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33" name="Image 8" descr="/private/tmp/claude-501/-Users-ravikumarkrishnamoorthy-Desktop-JORA-AYANA/c1054895-a8f4-4cc3-8515-2efc1287a3ff/scratchpad/decks/icons/x_circl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15867" y="4640763"/>
            <a:ext cx="228234" cy="228234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040880" y="455371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Inconsistent, unpredictable arrival experiences</a:t>
            </a:r>
            <a:endParaRPr lang="en-US" sz="1300" dirty="0"/>
          </a:p>
        </p:txBody>
      </p:sp>
      <p:sp>
        <p:nvSpPr>
          <p:cNvPr id="35" name="Text 24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36" name="Text 25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37" name="Text 26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AYANA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 for the complete guest journey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 is an AI-powered hotel guest-experience platform for India — enabling a traveller to plan, book, pay, personalise, check in, stay, and check out with minimal waiting and no repeated data entry.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1874520" cy="26517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11580" y="3063240"/>
            <a:ext cx="731520" cy="73152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993" y="3165653"/>
            <a:ext cx="526694" cy="526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9808" y="39776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9808" y="44348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Dates-first search, real availability</a:t>
            </a:r>
            <a:endParaRPr lang="en-US" sz="1100" dirty="0"/>
          </a:p>
        </p:txBody>
      </p:sp>
      <p:pic>
        <p:nvPicPr>
          <p:cNvPr id="11" name="Image 1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459" y="3886200"/>
            <a:ext cx="256032" cy="2560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800350" y="2743200"/>
            <a:ext cx="1874520" cy="26517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371850" y="3063240"/>
            <a:ext cx="731520" cy="73152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4" name="Image 2" descr="/private/tmp/claude-501/-Users-ravikumarkrishnamoorthy-Desktop-JORA-AYANA/c1054895-a8f4-4cc3-8515-2efc1287a3ff/scratchpad/decks/icons/credit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263" y="3165653"/>
            <a:ext cx="526694" cy="52669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7195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2910078" y="39776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Book &amp; Pay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2910078" y="44348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Payment, preferences, wire transfer</a:t>
            </a:r>
            <a:endParaRPr lang="en-US" sz="1100" dirty="0"/>
          </a:p>
        </p:txBody>
      </p:sp>
      <p:pic>
        <p:nvPicPr>
          <p:cNvPr id="18" name="Image 3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9729" y="3886200"/>
            <a:ext cx="256032" cy="2560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960620" y="2743200"/>
            <a:ext cx="1874520" cy="26517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5532120" y="3063240"/>
            <a:ext cx="731520" cy="73152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1" name="Image 4" descr="/private/tmp/claude-501/-Users-ravikumarkrishnamoorthy-Desktop-JORA-AYANA/c1054895-a8f4-4cc3-8515-2efc1287a3ff/scratchpad/decks/icons/user_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4533" y="3165653"/>
            <a:ext cx="526694" cy="52669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3222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5070348" y="39776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5070348" y="44348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&amp; payment confirmed</a:t>
            </a:r>
            <a:endParaRPr lang="en-US" sz="1100" dirty="0"/>
          </a:p>
        </p:txBody>
      </p:sp>
      <p:pic>
        <p:nvPicPr>
          <p:cNvPr id="25" name="Image 5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9999" y="3886200"/>
            <a:ext cx="256032" cy="25603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120890" y="2743200"/>
            <a:ext cx="1874520" cy="26517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7692390" y="3063240"/>
            <a:ext cx="731520" cy="73152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8" name="Image 6" descr="/private/tmp/claude-501/-Users-ravikumarkrishnamoorthy-Desktop-JORA-AYANA/c1054895-a8f4-4cc3-8515-2efc1287a3ff/scratchpad/decks/icons/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94803" y="3165653"/>
            <a:ext cx="526694" cy="52669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49249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1"/>
          <p:cNvSpPr/>
          <p:nvPr/>
        </p:nvSpPr>
        <p:spPr>
          <a:xfrm>
            <a:off x="7230618" y="39776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Arrive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7230618" y="44348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check-in &amp; key</a:t>
            </a:r>
            <a:endParaRPr lang="en-US" sz="1100" dirty="0"/>
          </a:p>
        </p:txBody>
      </p:sp>
      <p:pic>
        <p:nvPicPr>
          <p:cNvPr id="32" name="Image 7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10269" y="3886200"/>
            <a:ext cx="256032" cy="25603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281160" y="2743200"/>
            <a:ext cx="1874520" cy="26517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9852660" y="3063240"/>
            <a:ext cx="731520" cy="73152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35" name="Image 8" descr="/private/tmp/claude-501/-Users-ravikumarkrishnamoorthy-Desktop-JORA-AYANA/c1054895-a8f4-4cc3-8515-2efc1287a3ff/scratchpad/decks/icons/headphon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5073" y="3165653"/>
            <a:ext cx="526694" cy="526694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106527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A1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26"/>
          <p:cNvSpPr/>
          <p:nvPr/>
        </p:nvSpPr>
        <p:spPr>
          <a:xfrm>
            <a:off x="9390888" y="39776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&amp; Go</a:t>
            </a:r>
            <a:endParaRPr lang="en-US" sz="1500" dirty="0"/>
          </a:p>
        </p:txBody>
      </p:sp>
      <p:sp>
        <p:nvSpPr>
          <p:cNvPr id="38" name="Text 27"/>
          <p:cNvSpPr/>
          <p:nvPr/>
        </p:nvSpPr>
        <p:spPr>
          <a:xfrm>
            <a:off x="9390888" y="4434840"/>
            <a:ext cx="1655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Concierge chat, checkout, invoice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64008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promise: book, verify, personalise, arrive, enter your room, and check out — with minimal waiting.</a:t>
            </a:r>
            <a:endParaRPr lang="en-US" sz="1500" dirty="0"/>
          </a:p>
        </p:txBody>
      </p:sp>
      <p:sp>
        <p:nvSpPr>
          <p:cNvPr id="40" name="Text 29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41" name="Text 30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AYANA FITS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don’t replace your PMS — we orchestrate the guest journey around 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21945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12C4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4752" y="2468880"/>
            <a:ext cx="585216" cy="585216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6" name="Image 0" descr="/private/tmp/claude-501/-Users-ravikumarkrishnamoorthy-Desktop-JORA-AYANA/c1054895-a8f4-4cc3-8515-2efc1287a3ff/scratchpad/decks/icons/smart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6682" y="2550810"/>
            <a:ext cx="421356" cy="4213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Traveller</a:t>
            </a:r>
            <a:endParaRPr lang="en-US" sz="1400" dirty="0"/>
          </a:p>
        </p:txBody>
      </p:sp>
      <p:pic>
        <p:nvPicPr>
          <p:cNvPr id="8" name="Image 1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7144" y="2843784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535680" y="2286000"/>
            <a:ext cx="2194560" cy="1371600"/>
          </a:xfrm>
          <a:prstGeom prst="roundRect">
            <a:avLst>
              <a:gd name="adj" fmla="val 6667"/>
            </a:avLst>
          </a:prstGeom>
          <a:solidFill>
            <a:srgbClr val="0A0F1C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4340352" y="2468880"/>
            <a:ext cx="585216" cy="585216"/>
          </a:xfrm>
          <a:prstGeom prst="ellipse">
            <a:avLst/>
          </a:prstGeom>
          <a:solidFill>
            <a:srgbClr val="C6A15B"/>
          </a:solidFill>
          <a:ln/>
        </p:spPr>
      </p:sp>
      <p:pic>
        <p:nvPicPr>
          <p:cNvPr id="11" name="Image 2" descr="/private/tmp/claude-501/-Users-ravikumarkrishnamoorthy-Desktop-JORA-AYANA/c1054895-a8f4-4cc3-8515-2efc1287a3ff/scratchpad/decks/icons/h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282" y="2550810"/>
            <a:ext cx="421356" cy="4213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71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AYANA App</a:t>
            </a:r>
            <a:endParaRPr lang="en-US" sz="1400" dirty="0"/>
          </a:p>
        </p:txBody>
      </p:sp>
      <p:pic>
        <p:nvPicPr>
          <p:cNvPr id="13" name="Image 3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744" y="2843784"/>
            <a:ext cx="256032" cy="25603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31280" y="2286000"/>
            <a:ext cx="21945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12C4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9"/>
          <p:cNvSpPr/>
          <p:nvPr/>
        </p:nvSpPr>
        <p:spPr>
          <a:xfrm>
            <a:off x="7235952" y="2468880"/>
            <a:ext cx="585216" cy="585216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6" name="Image 4" descr="/private/tmp/claude-501/-Users-ravikumarkrishnamoorthy-Desktop-JORA-AYANA/c1054895-a8f4-4cc3-8515-2efc1287a3ff/scratchpad/decks/icons/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7882" y="2550810"/>
            <a:ext cx="421356" cy="421356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5227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 PMS</a:t>
            </a:r>
            <a:endParaRPr lang="en-US" sz="1400" dirty="0"/>
          </a:p>
        </p:txBody>
      </p:sp>
      <p:pic>
        <p:nvPicPr>
          <p:cNvPr id="18" name="Image 5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8344" y="2843784"/>
            <a:ext cx="256032" cy="2560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326880" y="2286000"/>
            <a:ext cx="21945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212C48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2"/>
          <p:cNvSpPr/>
          <p:nvPr/>
        </p:nvSpPr>
        <p:spPr>
          <a:xfrm>
            <a:off x="10131552" y="2468880"/>
            <a:ext cx="585216" cy="585216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1" name="Image 6" descr="/private/tmp/claude-501/-Users-ravikumarkrishnamoorthy-Desktop-JORA-AYANA/c1054895-a8f4-4cc3-8515-2efc1287a3ff/scratchpad/decks/icons/gr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13482" y="2550810"/>
            <a:ext cx="421356" cy="421356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9418320" y="3154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 Operations</a:t>
            </a:r>
            <a:endParaRPr lang="en-US" sz="1400" dirty="0"/>
          </a:p>
        </p:txBody>
      </p:sp>
      <p:sp>
        <p:nvSpPr>
          <p:cNvPr id="23" name="Text 14"/>
          <p:cNvSpPr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 •  Identity  •  Preferences  •  Services  •  Concierge</a:t>
            </a:r>
            <a:endParaRPr lang="en-US" sz="1300" dirty="0"/>
          </a:p>
        </p:txBody>
      </p:sp>
      <p:sp>
        <p:nvSpPr>
          <p:cNvPr id="24" name="Shape 15"/>
          <p:cNvSpPr/>
          <p:nvPr/>
        </p:nvSpPr>
        <p:spPr>
          <a:xfrm>
            <a:off x="640080" y="475488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5F1E7"/>
          </a:solidFill>
          <a:ln/>
        </p:spPr>
      </p:sp>
      <p:sp>
        <p:nvSpPr>
          <p:cNvPr id="25" name="Text 16"/>
          <p:cNvSpPr/>
          <p:nvPr/>
        </p:nvSpPr>
        <p:spPr>
          <a:xfrm>
            <a:off x="1005840" y="493776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platforms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(OPERA, Mews, and similar) run the hotel: rooms, reservations, billing, housekeeping, keys. 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0A0F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 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traveller journey across partner hotels and integrates with your existing PMS.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8" name="Text 19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AYANA Ready-to-Room Guarantee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guest leaves the airport or station, AYANA confirms all four — or sends an early exception message with a recovery offer.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user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453" y="2937053"/>
            <a:ext cx="526694" cy="526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3749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is verified</a:t>
            </a:r>
            <a:endParaRPr lang="en-US" sz="1500" dirty="0"/>
          </a:p>
        </p:txBody>
      </p:sp>
      <p:pic>
        <p:nvPicPr>
          <p:cNvPr id="9" name="Image 1" descr="/private/tmp/claude-501/-Users-ravikumarkrishnamoorthy-Desktop-JORA-AYANA/c1054895-a8f4-4cc3-8515-2efc1287a3ff/scratchpad/decks/icons/check_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2496" y="4389120"/>
            <a:ext cx="292608" cy="2926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74720" y="251460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9768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redit_c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0093" y="2937053"/>
            <a:ext cx="526694" cy="52669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11880" y="3749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is authorised</a:t>
            </a:r>
            <a:endParaRPr lang="en-US" sz="1500" dirty="0"/>
          </a:p>
        </p:txBody>
      </p:sp>
      <p:pic>
        <p:nvPicPr>
          <p:cNvPr id="14" name="Image 3" descr="/private/tmp/claude-501/-Users-ravikumarkrishnamoorthy-Desktop-JORA-AYANA/c1054895-a8f4-4cc3-8515-2efc1287a3ff/scratchpad/decks/icons/check_circ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7136" y="4389120"/>
            <a:ext cx="292608" cy="29260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309360" y="251460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713232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7" name="Image 4" descr="/private/tmp/claude-501/-Users-ravikumarkrishnamoorthy-Desktop-JORA-AYANA/c1054895-a8f4-4cc3-8515-2efc1287a3ff/scratchpad/decks/icons/ho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4733" y="2937053"/>
            <a:ext cx="526694" cy="52669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446520" y="3749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Room is ready</a:t>
            </a:r>
            <a:endParaRPr lang="en-US" sz="1500" dirty="0"/>
          </a:p>
        </p:txBody>
      </p:sp>
      <p:pic>
        <p:nvPicPr>
          <p:cNvPr id="19" name="Image 5" descr="/private/tmp/claude-501/-Users-ravikumarkrishnamoorthy-Desktop-JORA-AYANA/c1054895-a8f4-4cc3-8515-2efc1287a3ff/scratchpad/decks/icons/check_circ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1776" y="4389120"/>
            <a:ext cx="292608" cy="29260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9144000" y="2514600"/>
            <a:ext cx="2377440" cy="2286000"/>
          </a:xfrm>
          <a:prstGeom prst="roundRect">
            <a:avLst>
              <a:gd name="adj" fmla="val 4800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21" name="Shape 13"/>
          <p:cNvSpPr/>
          <p:nvPr/>
        </p:nvSpPr>
        <p:spPr>
          <a:xfrm>
            <a:off x="996696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22" name="Image 6" descr="/private/tmp/claude-501/-Users-ravikumarkrishnamoorthy-Desktop-JORA-AYANA/c1054895-a8f4-4cc3-8515-2efc1287a3ff/scratchpad/decks/icons/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69373" y="2937053"/>
            <a:ext cx="526694" cy="52669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281160" y="3749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/ check-in path is ready</a:t>
            </a:r>
            <a:endParaRPr lang="en-US" sz="1500" dirty="0"/>
          </a:p>
        </p:txBody>
      </p:sp>
      <p:pic>
        <p:nvPicPr>
          <p:cNvPr id="24" name="Image 7" descr="/private/tmp/claude-501/-Users-ravikumarkrishnamoorthy-Desktop-JORA-AYANA/c1054895-a8f4-4cc3-8515-2efc1287a3ff/scratchpad/decks/icons/check_circl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6416" y="4389120"/>
            <a:ext cx="292608" cy="29260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640080" y="5120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9BD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guest goes straight to the room — no queue, no repeated forms, no surprises.</a:t>
            </a:r>
            <a:endParaRPr lang="en-US" sz="1800" dirty="0"/>
          </a:p>
        </p:txBody>
      </p:sp>
      <p:sp>
        <p:nvSpPr>
          <p:cNvPr id="26" name="Text 1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8" name="Text 18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 EXPERIENCE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guest sees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6" name="Image 0" descr="/private/tmp/claude-501/-Users-ravikumarkrishnamoorthy-Desktop-JORA-AYANA/c1054895-a8f4-4cc3-8515-2efc1287a3ff/scratchpad/decks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Dates-First Search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with dates &amp; party size; only real, available rooms are shown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960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9392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1" name="Image 1" descr="/private/tmp/claude-501/-Users-ravikumarkrishnamoorthy-Desktop-JORA-AYANA/c1054895-a8f4-4cc3-8515-2efc1287a3ff/scratchpad/decks/icons/user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3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392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Pre-Arrival Verification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9392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capture, digital registration, secure payment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912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344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6" name="Image 2" descr="/private/tmp/claude-501/-Users-ravikumarkrishnamoorthy-Desktop-JORA-AYANA/c1054895-a8f4-4cc3-8515-2efc1287a3ff/scratchpad/decks/icons/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250" y="227137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344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&amp; Group Booking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7344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Contracted rates, wire transfer, and linked 7+ guest group bookings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1" name="Image 3" descr="/private/tmp/claude-501/-Users-ravikumarkrishnamoorthy-Desktop-JORA-AYANA/c1054895-a8f4-4cc3-8515-2efc1287a3ff/scratchpad/decks/icons/ke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210" y="451165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QR / Kiosk / Mobile Key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1440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to the room, staff fallback always available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1960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9392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6" name="Image 4" descr="/private/tmp/claude-501/-Users-ravikumarkrishnamoorthy-Desktop-JORA-AYANA/c1054895-a8f4-4cc3-8515-2efc1287a3ff/scratchpad/decks/icons/message_squar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30" y="4511650"/>
            <a:ext cx="395021" cy="3950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9392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Data-Driven Concierge Chat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9392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answers from the live folio, AYANA Memory, and service catalog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9912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7344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31" name="Image 5" descr="/private/tmp/claude-501/-Users-ravikumarkrishnamoorthy-Desktop-JORA-AYANA/c1054895-a8f4-4cc3-8515-2efc1287a3ff/scratchpad/decks/icons/refre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0250" y="4511650"/>
            <a:ext cx="395021" cy="3950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7344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Guest-Managed Stay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7344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with a real refund ladder, modify dates, or pay for an upgrade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team sees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6" name="Image 0" descr="/private/tmp/claude-501/-Users-ravikumarkrishnamoorthy-Desktop-JORA-AYANA/c1054895-a8f4-4cc3-8515-2efc1287a3ff/scratchpad/decks/icons/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1210" y="227137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Arrivals Dashboard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arrivals, guest requests, exceptions at a glance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1960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9392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1" name="Image 1" descr="/private/tmp/claude-501/-Users-ravikumarkrishnamoorthy-Desktop-JORA-AYANA/c1054895-a8f4-4cc3-8515-2efc1287a3ff/scratchpad/decks/icons/lay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0730" y="2271370"/>
            <a:ext cx="395021" cy="3950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9392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PMS Integration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69392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Availability, rates, room assignment, billing, checkout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99120" y="192024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3440" y="219456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6" name="Image 2" descr="/private/tmp/claude-501/-Users-ravikumarkrishnamoorthy-Desktop-JORA-AYANA/c1054895-a8f4-4cc3-8515-2efc1287a3ff/scratchpad/decks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0250" y="2271370"/>
            <a:ext cx="395021" cy="3950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3440" y="288036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Assignment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473440" y="321868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Housekeeping, bell desk, transport, front office, concierge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4008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1440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1" name="Image 3" descr="/private/tmp/claude-501/-Users-ravikumarkrishnamoorthy-Desktop-JORA-AYANA/c1054895-a8f4-4cc3-8515-2efc1287a3ff/scratchpad/decks/icons/trending_u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210" y="4511650"/>
            <a:ext cx="395021" cy="3950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440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Kiosk Upsell, Priced Live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1440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upgrade or dining/spa offered at check-in, paid on the spot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441960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69392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6" name="Image 4" descr="/private/tmp/claude-501/-Users-ravikumarkrishnamoorthy-Desktop-JORA-AYANA/c1054895-a8f4-4cc3-8515-2efc1287a3ff/scratchpad/decks/icons/bar_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0730" y="4511650"/>
            <a:ext cx="395021" cy="3950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69392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Settlement &amp; Reporting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469392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Refunds, commission, and corporate wire-transfer settlement status</a:t>
            </a:r>
            <a:endParaRPr lang="en-US" sz="1150" dirty="0"/>
          </a:p>
        </p:txBody>
      </p:sp>
      <p:sp>
        <p:nvSpPr>
          <p:cNvPr id="29" name="Shape 22"/>
          <p:cNvSpPr/>
          <p:nvPr/>
        </p:nvSpPr>
        <p:spPr>
          <a:xfrm>
            <a:off x="8199120" y="4160520"/>
            <a:ext cx="33223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473440" y="4434840"/>
            <a:ext cx="548640" cy="54864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31" name="Image 5" descr="/private/tmp/claude-501/-Users-ravikumarkrishnamoorthy-Desktop-JORA-AYANA/c1054895-a8f4-4cc3-8515-2efc1287a3ff/scratchpad/decks/icons/message_squar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0250" y="4511650"/>
            <a:ext cx="395021" cy="39502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473440" y="5120640"/>
            <a:ext cx="277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Guest Feedback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8473440" y="5458968"/>
            <a:ext cx="277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feedback captured at every checkout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 CHANNELS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accounts and group bookings, built in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footer-level channels alongside normal booking, for the guests who don’t fit a single-room, self-pay flow.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3200400" cy="2651760"/>
          </a:xfrm>
          <a:prstGeom prst="roundRect">
            <a:avLst>
              <a:gd name="adj" fmla="val 4138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user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76933" y="2937053"/>
            <a:ext cx="526694" cy="52669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749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Corporate Sign-In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68680" y="4206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company logs in to its own agreement, then books normally at its contracted rate.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480560" y="2514600"/>
            <a:ext cx="3200400" cy="2651760"/>
          </a:xfrm>
          <a:prstGeom prst="roundRect">
            <a:avLst>
              <a:gd name="adj" fmla="val 4138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71500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2" name="Image 1" descr="/private/tmp/claude-501/-Users-ravikumarkrishnamoorthy-Desktop-JORA-AYANA/c1054895-a8f4-4cc3-8515-2efc1287a3ff/scratchpad/decks/icons/credit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7413" y="2937053"/>
            <a:ext cx="526694" cy="52669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3749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 Transfer On File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709160" y="4206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Pre-approved at bond signing — no gateway step, no card entry, one click to confirm.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321040" y="2514600"/>
            <a:ext cx="3200400" cy="2651760"/>
          </a:xfrm>
          <a:prstGeom prst="roundRect">
            <a:avLst>
              <a:gd name="adj" fmla="val 4138"/>
            </a:avLst>
          </a:prstGeom>
          <a:solidFill>
            <a:srgbClr val="0F1626"/>
          </a:solidFill>
          <a:ln w="12700">
            <a:solidFill>
              <a:srgbClr val="212C4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555480" y="2834640"/>
            <a:ext cx="731520" cy="73152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7" name="Image 2" descr="/private/tmp/claude-501/-Users-ravikumarkrishnamoorthy-Desktop-JORA-AYANA/c1054895-a8f4-4cc3-8515-2efc1287a3ff/scratchpad/decks/icons/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7893" y="2937053"/>
            <a:ext cx="526694" cy="52669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49640" y="37490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Linked Group Bookings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549640" y="4206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7+ guests become one multi-room booking sharing a single group reference.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company credentials are collected in this prototype — corporate access is demo-seeded per account.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IN-STAY EXPERIENCE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stay doesn’t end at the room key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in-stay hub with a real folio, a data-driven concierge, and guest-managed changes — not a static confirmation screen.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33223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6060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refre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" y="269565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429000"/>
            <a:ext cx="277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Cancel / Modify / Upgrade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914400" y="4023360"/>
            <a:ext cx="277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time before or during the stay, quoted from the hotel’s real cancellation ladder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19600" y="2286000"/>
            <a:ext cx="33223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39640" y="26060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2" name="Image 1" descr="/private/tmp/claude-501/-Users-ravikumarkrishnamoorthy-Desktop-JORA-AYANA/c1054895-a8f4-4cc3-8515-2efc1287a3ff/scratchpad/decks/icons/message_squa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251" y="2695651"/>
            <a:ext cx="460858" cy="46085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3920" y="3429000"/>
            <a:ext cx="277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Concierge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4693920" y="4023360"/>
            <a:ext cx="277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replies from the live folio balance, AYANA Memory, and the actual service catalog — not canned text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99120" y="2286000"/>
            <a:ext cx="33223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519160" y="26060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7" name="Image 2" descr="/private/tmp/claude-501/-Users-ravikumarkrishnamoorthy-Desktop-JORA-AYANA/c1054895-a8f4-4cc3-8515-2efc1287a3ff/scratchpad/decks/icons/map_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8771" y="2695651"/>
            <a:ext cx="460858" cy="46085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473440" y="3429000"/>
            <a:ext cx="277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Next?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473440" y="4023360"/>
            <a:ext cx="2773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Cross-hotel AI recommendations into other AYANA cities, offered at checkout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2" name="Text 17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demonstrable today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simulated prototype covers the full guest journey — live, clickable, and testable end to end.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377440" cy="3291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08760" y="256032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7" name="Image 0" descr="/private/tmp/claude-501/-Users-ravikumarkrishnamoorthy-Desktop-JORA-AYANA/c1054895-a8f4-4cc3-8515-2efc1287a3ff/scratchpad/decks/icons/smart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371" y="2649931"/>
            <a:ext cx="460858" cy="4608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34290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Traveller App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22960" y="40233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Dates-first search, corporate &amp; group booking, Ready-to-Room, guest-managed stay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2286000"/>
            <a:ext cx="2377440" cy="3291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56032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2" name="Image 1" descr="/private/tmp/claude-501/-Users-ravikumarkrishnamoorthy-Desktop-JORA-AYANA/c1054895-a8f4-4cc3-8515-2efc1287a3ff/scratchpad/decks/icons/gr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11" y="2649931"/>
            <a:ext cx="460858" cy="46085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57600" y="34290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Hotel Operations Dashboard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657600" y="40233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office, housekeeping, concierge, finance, room management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309360" y="2286000"/>
            <a:ext cx="2377440" cy="3291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178040" y="256032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17" name="Image 2" descr="/private/tmp/claude-501/-Users-ravikumarkrishnamoorthy-Desktop-JORA-AYANA/c1054895-a8f4-4cc3-8515-2efc1287a3ff/scratchpad/decks/icons/ke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651" y="2649931"/>
            <a:ext cx="460858" cy="46085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92240" y="34290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Self-Service Kiosk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492240" y="40233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in (face scan / QR), real balance collection, live-priced upsell, checkout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144000" y="2286000"/>
            <a:ext cx="2377440" cy="32918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10012680" y="256032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22" name="Image 3" descr="/private/tmp/claude-501/-Users-ravikumarkrishnamoorthy-Desktop-JORA-AYANA/c1054895-a8f4-4cc3-8515-2efc1287a3ff/scratchpad/decks/icons/alert_triang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2291" y="2649931"/>
            <a:ext cx="460858" cy="46085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0" y="34290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Control Centre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9326880" y="40233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Live-tests 13 real failure &amp; recovery scenarios end to end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data and payments are simulated for demonstration. A persistent demo switcher jumps between all four surfaces without knowing the URLs.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START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market &amp; pilot plan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377440" cy="2651760"/>
          </a:xfrm>
          <a:prstGeom prst="roundRect">
            <a:avLst>
              <a:gd name="adj" fmla="val 3846"/>
            </a:avLst>
          </a:prstGeom>
          <a:solidFill>
            <a:srgbClr val="0A0F1C"/>
          </a:solidFill>
          <a:ln/>
        </p:spPr>
      </p:sp>
      <p:sp>
        <p:nvSpPr>
          <p:cNvPr id="5" name="Shape 3"/>
          <p:cNvSpPr/>
          <p:nvPr/>
        </p:nvSpPr>
        <p:spPr>
          <a:xfrm>
            <a:off x="1508760" y="2514600"/>
            <a:ext cx="640080" cy="64008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6" name="Image 0" descr="/private/tmp/claude-501/-Users-ravikumarkrishnamoorthy-Desktop-JORA-AYANA/c1054895-a8f4-4cc3-8515-2efc1287a3ff/scratchpad/decks/icons/map_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8371" y="260421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 &amp; Hyderabad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4023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first, global expansion later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474720" y="2194560"/>
            <a:ext cx="2377440" cy="2651760"/>
          </a:xfrm>
          <a:prstGeom prst="roundRect">
            <a:avLst>
              <a:gd name="adj" fmla="val 3846"/>
            </a:avLst>
          </a:prstGeom>
          <a:solidFill>
            <a:srgbClr val="0A0F1C"/>
          </a:solidFill>
          <a:ln/>
        </p:spPr>
      </p:sp>
      <p:sp>
        <p:nvSpPr>
          <p:cNvPr id="10" name="Shape 7"/>
          <p:cNvSpPr/>
          <p:nvPr/>
        </p:nvSpPr>
        <p:spPr>
          <a:xfrm>
            <a:off x="4343400" y="2514600"/>
            <a:ext cx="640080" cy="64008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1" name="Image 1" descr="/private/tmp/claude-501/-Users-ravikumarkrishnamoorthy-Desktop-JORA-AYANA/c1054895-a8f4-4cc3-8515-2efc1287a3ff/scratchpad/decks/icon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11" y="2604211"/>
            <a:ext cx="460858" cy="46085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760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&amp; Airport Hotels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657600" y="4023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Mid-sized to large 3–5 star properties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309360" y="2194560"/>
            <a:ext cx="2377440" cy="2651760"/>
          </a:xfrm>
          <a:prstGeom prst="roundRect">
            <a:avLst>
              <a:gd name="adj" fmla="val 3846"/>
            </a:avLst>
          </a:prstGeom>
          <a:solidFill>
            <a:srgbClr val="0A0F1C"/>
          </a:solidFill>
          <a:ln/>
        </p:spPr>
      </p:sp>
      <p:sp>
        <p:nvSpPr>
          <p:cNvPr id="15" name="Shape 11"/>
          <p:cNvSpPr/>
          <p:nvPr/>
        </p:nvSpPr>
        <p:spPr>
          <a:xfrm>
            <a:off x="7178040" y="2514600"/>
            <a:ext cx="640080" cy="64008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16" name="Image 2" descr="/private/tmp/claude-501/-Users-ravikumarkrishnamoorthy-Desktop-JORA-AYANA/c1054895-a8f4-4cc3-8515-2efc1287a3ff/scratchpad/decks/icons/handshak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7651" y="2604211"/>
            <a:ext cx="460858" cy="46085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9224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10–20 Hotels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492240" y="4023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contracted partner inventory only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144000" y="2194560"/>
            <a:ext cx="2377440" cy="2651760"/>
          </a:xfrm>
          <a:prstGeom prst="roundRect">
            <a:avLst>
              <a:gd name="adj" fmla="val 3846"/>
            </a:avLst>
          </a:prstGeom>
          <a:solidFill>
            <a:srgbClr val="0A0F1C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12680" y="2514600"/>
            <a:ext cx="640080" cy="64008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21" name="Image 3" descr="/private/tmp/claude-501/-Users-ravikumarkrishnamoorthy-Desktop-JORA-AYANA/c1054895-a8f4-4cc3-8515-2efc1287a3ff/scratchpad/decks/icons/smartph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2291" y="2604211"/>
            <a:ext cx="460858" cy="46085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6880" y="33832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Surfaces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326880" y="4023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 app + hotel operations dashboard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D8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 focus: business travellers and airport-adjacent stays, where repeated waiting and repeated data entry hurt the most.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920240"/>
            <a:ext cx="1005840" cy="100584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3" name="Image 0" descr="/private/tmp/claude-501/-Users-ravikumarkrishnamoorthy-Desktop-JORA-AYANA/c1054895-a8f4-4cc3-8515-2efc1287a3ff/scratchpad/decks/icons/message_squ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745" y="2061058"/>
            <a:ext cx="724205" cy="7242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32004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Questions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0" y="40233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answers to the questions every hotel partner asks first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“Will this replace our PMS or our front-desk staff?”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AYANA is an orchestration layer for the traveller journey — your PMS still runs rooms, reservations, billing, and housekeeping.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Staff-assisted fallback is always available for failed verification, payment issues, room changes, or any guest needing help.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CONCESSION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live PMS integration built yet — the pilot’s first technical milestone is exactly that connection, not a nice-to-have we can defer.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“Will guests trust a face-scan or biometric check-in?”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Check-in starts with QR / barcode, ID document, and selfie/liveness verification — not iris scanning.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face scan doesn’t match, the guest automatically falls back to QR or a staff-assisted lookup — never a dead end.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accuracy in the field depends on kiosk camera quality and lighting we haven’t tested yet — that’s exactly why fallback is the default path, not an edge case bolted on later.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21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wifi_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happens when the technology fails — kiosk down, WiFi down?”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mode has a designed recovery path: kiosk offline, network failure, PMS offline, and more.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universal fallback is the same in every case: “please see Front Office — your booking is safe.”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13 scenarios are demoed live today in the Simulation Control Centre, but none of them has run yet against a real hotel’s WiFi or a real PMS outage — the pilot is where that gets proven.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“Is our guests’ identity and payment data secure?”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consent and privacy controls, with encryption and restricted access to documents and profiles.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data-retention and deletion policy, with Form C and foreign-guest reporting support built in for India.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in the prototype are fully simulated today — no card is ever charged. The tokenised-gateway integration and fraud monitoring are pilot-stage build items, not something already live in production.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perc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“Will this take away our control over room pricing — including corporate rates?”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prices remain fully controlled by the hotel at all times; AYANA offers only hotel-approved discounts, upgrades, or packages.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rates are negotiated and fixed at bond signing, the same as any corporate agreement you already run — AYANA does not discount unilaterally.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set price floors, peak-season rules, and cancellation rules; every quote in the app — including group and corporate — is computed within those bounds, never around them.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21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brief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does wire-transfer corporate billing avoid becoming a credit risk?”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transfer is only enabled per corporate account after a signed bond with agreed settlement terms (for example, Net 30).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corporate account with no signed bond never sees the wire-transfer option — it books like any other guest, paying upfront.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CONCESSION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enforcement — chasing an overdue Net-30 invoice — sits outside this prototype entirely; today it’s a flag the hotel’s finance team would still need to act on manually.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21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OBJECTION HANDLING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77240"/>
            <a:ext cx="640080" cy="640080"/>
          </a:xfrm>
          <a:prstGeom prst="ellipse">
            <a:avLst/>
          </a:prstGeom>
          <a:solidFill>
            <a:srgbClr val="0A0F1C"/>
          </a:solidFill>
          <a:ln/>
        </p:spPr>
      </p:sp>
      <p:pic>
        <p:nvPicPr>
          <p:cNvPr id="4" name="Image 0" descr="/private/tmp/claude-501/-Users-ravikumarkrishnamoorthy-Desktop-JORA-AYANA/c1054895-a8f4-4cc3-8515-2efc1287a3ff/scratchpad/decks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691" y="866851"/>
            <a:ext cx="460858" cy="46085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63040" y="731520"/>
            <a:ext cx="9966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0A0F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much integration effort does this require from us?”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640080" y="1920240"/>
            <a:ext cx="108813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1005840" y="2148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D8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5840" y="2606040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9" name="Image 1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15" y="2636215"/>
            <a:ext cx="213970" cy="21397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60320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priority is the PMS provider with the fastest feasible supported API for the pilot hotels.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3172968"/>
            <a:ext cx="274320" cy="274320"/>
          </a:xfrm>
          <a:prstGeom prst="ellipse">
            <a:avLst/>
          </a:prstGeom>
          <a:solidFill>
            <a:srgbClr val="F5F1E7"/>
          </a:solidFill>
          <a:ln/>
        </p:spPr>
      </p:sp>
      <p:pic>
        <p:nvPicPr>
          <p:cNvPr id="12" name="Image 2" descr="/private/tmp/claude-501/-Users-ravikumarkrishnamoorthy-Desktop-JORA-AYANA/c1054895-a8f4-4cc3-8515-2efc1287a3ff/scratchpad/decks/icons/check_circle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" y="3203143"/>
            <a:ext cx="213970" cy="21397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3127248"/>
            <a:ext cx="9784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F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scope is deliberately narrow: bookings, arrivals, guest requests, and room-readiness — not a full system overhaul.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A0F1C"/>
          </a:solidFill>
          <a:ln/>
        </p:spPr>
      </p:sp>
      <p:sp>
        <p:nvSpPr>
          <p:cNvPr id="15" name="Text 10"/>
          <p:cNvSpPr/>
          <p:nvPr/>
        </p:nvSpPr>
        <p:spPr>
          <a:xfrm>
            <a:off x="1005840" y="5074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6A1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05840" y="53492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F5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dashboard, task assignment, and reporting are ready to use from day one of the pilot — but they run on simulated data until your PMS connection is live.</a:t>
            </a:r>
            <a:endParaRPr lang="en-US" sz="1250" dirty="0"/>
          </a:p>
        </p:txBody>
      </p:sp>
      <p:sp>
        <p:nvSpPr>
          <p:cNvPr id="17" name="Text 12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F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92928" y="1005840"/>
            <a:ext cx="1005840" cy="1005840"/>
          </a:xfrm>
          <a:prstGeom prst="ellipse">
            <a:avLst/>
          </a:prstGeom>
          <a:solidFill>
            <a:srgbClr val="161F35"/>
          </a:solidFill>
          <a:ln/>
        </p:spPr>
      </p:sp>
      <p:pic>
        <p:nvPicPr>
          <p:cNvPr id="3" name="Image 0" descr="/private/tmp/claude-501/-Users-ravikumarkrishnamoorthy-Desktop-JORA-AYANA/c1054895-a8f4-4cc3-8515-2efc1287a3ff/scratchpad/decks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3745" y="1146658"/>
            <a:ext cx="724205" cy="7242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2860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F9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Let’s pilot AYANA together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0" y="31546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B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&amp; Hyderabad  •  Business &amp; airport hotels  •  10–20 directly contracted partners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706728" y="42062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0F1626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706728" y="4206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agreement</a:t>
            </a:r>
            <a:endParaRPr lang="en-US" sz="1250" dirty="0"/>
          </a:p>
        </p:txBody>
      </p:sp>
      <p:pic>
        <p:nvPicPr>
          <p:cNvPr id="8" name="Image 1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2416" y="4535424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901288" y="42062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0F1626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901288" y="4206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 integration</a:t>
            </a:r>
            <a:endParaRPr lang="en-US" sz="1250" dirty="0"/>
          </a:p>
        </p:txBody>
      </p:sp>
      <p:pic>
        <p:nvPicPr>
          <p:cNvPr id="11" name="Image 2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976" y="4535424"/>
            <a:ext cx="237744" cy="237744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095848" y="42062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0F1626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6095848" y="4206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onboarding</a:t>
            </a:r>
            <a:endParaRPr lang="en-US" sz="1250" dirty="0"/>
          </a:p>
        </p:txBody>
      </p:sp>
      <p:pic>
        <p:nvPicPr>
          <p:cNvPr id="14" name="Image 3" descr="/private/tmp/claude-501/-Users-ravikumarkrishnamoorthy-Desktop-JORA-AYANA/c1054895-a8f4-4cc3-8515-2efc1287a3ff/scratchpad/decks/icons/arrow_r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1536" y="4535424"/>
            <a:ext cx="237744" cy="237744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8290408" y="42062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0F1626"/>
          </a:solidFill>
          <a:ln w="12700">
            <a:solidFill>
              <a:srgbClr val="C6A15B"/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8290408" y="4206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BF9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250" dirty="0"/>
          </a:p>
        </p:txBody>
      </p:sp>
      <p:sp>
        <p:nvSpPr>
          <p:cNvPr id="17" name="Text 11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AYANA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3809848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Ravi Kumar Krishnamoorthy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10820095" y="6355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212C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2026-08-08T23:35:59Z</dcterms:created>
  <dcterms:modified xsi:type="dcterms:W3CDTF">2026-08-08T23:35:59Z</dcterms:modified>
</cp:coreProperties>
</file>