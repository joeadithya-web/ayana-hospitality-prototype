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1.png"/><Relationship Id="rId3" Type="http://schemas.openxmlformats.org/officeDocument/2006/relationships/image" Target="../media/image-2-1.png"/><Relationship Id="rId4" Type="http://schemas.openxmlformats.org/officeDocument/2006/relationships/image" Target="../media/image-2-1.png"/><Relationship Id="rId5" Type="http://schemas.openxmlformats.org/officeDocument/2006/relationships/image" Target="../media/image-2-1.png"/><Relationship Id="rId6" Type="http://schemas.openxmlformats.org/officeDocument/2006/relationships/image" Target="../media/image-2-1.png"/><Relationship Id="rId7" Type="http://schemas.openxmlformats.org/officeDocument/2006/relationships/image" Target="../media/image-2-1.png"/><Relationship Id="rId8" Type="http://schemas.openxmlformats.org/officeDocument/2006/relationships/image" Target="../media/image-2-1.png"/><Relationship Id="rId9" Type="http://schemas.openxmlformats.org/officeDocument/2006/relationships/image" Target="../media/image-2-1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2.png"/><Relationship Id="rId5" Type="http://schemas.openxmlformats.org/officeDocument/2006/relationships/image" Target="../media/image-3-5.png"/><Relationship Id="rId6" Type="http://schemas.openxmlformats.org/officeDocument/2006/relationships/image" Target="../media/image-3-2.png"/><Relationship Id="rId7" Type="http://schemas.openxmlformats.org/officeDocument/2006/relationships/image" Target="../media/image-3-7.png"/><Relationship Id="rId8" Type="http://schemas.openxmlformats.org/officeDocument/2006/relationships/image" Target="../media/image-3-2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2.png"/><Relationship Id="rId5" Type="http://schemas.openxmlformats.org/officeDocument/2006/relationships/image" Target="../media/image-4-5.png"/><Relationship Id="rId6" Type="http://schemas.openxmlformats.org/officeDocument/2006/relationships/image" Target="../media/image-4-2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2.png"/><Relationship Id="rId5" Type="http://schemas.openxmlformats.org/officeDocument/2006/relationships/image" Target="../media/image-5-5.png"/><Relationship Id="rId6" Type="http://schemas.openxmlformats.org/officeDocument/2006/relationships/image" Target="../media/image-5-2.png"/><Relationship Id="rId7" Type="http://schemas.openxmlformats.org/officeDocument/2006/relationships/image" Target="../media/image-5-7.png"/><Relationship Id="rId8" Type="http://schemas.openxmlformats.org/officeDocument/2006/relationships/image" Target="../media/image-5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2.png"/><Relationship Id="rId4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2.png"/><Relationship Id="rId4" Type="http://schemas.openxmlformats.org/officeDocument/2006/relationships/image" Target="../media/image-1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2.png"/><Relationship Id="rId4" Type="http://schemas.openxmlformats.org/officeDocument/2006/relationships/image" Target="../media/image-15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2.png"/><Relationship Id="rId4" Type="http://schemas.openxmlformats.org/officeDocument/2006/relationships/image" Target="../media/image-16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2.png"/><Relationship Id="rId4" Type="http://schemas.openxmlformats.org/officeDocument/2006/relationships/image" Target="../media/image-17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051560"/>
            <a:ext cx="1005840" cy="100584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3" name="Image 0" descr="/private/tmp/claude-501/-Users-ravikumarkrishnamoorthy-Desktop-JORA-AYANA/c1054895-a8f4-4cc3-8515-2efc1287a3ff/scratchpad/decks/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745" y="119237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AYANA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0" y="1965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·  TO  ·  ROOM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981048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5F1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Book, verify, personalise, arrive, and check in — with minimal waiting.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2438248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Home-to-Room hospitality platform for India’s business and airport hotels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 &amp;  Objection Handling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Hospitality still runs on repetition and waiting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TRAVELLER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005840" y="2743200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x_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027" y="2775387"/>
            <a:ext cx="228234" cy="22823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6883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across multiple sites, call hotels, negotiate pricing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005840" y="3364992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0" name="Image 1" descr="/private/tmp/claude-501/-Users-ravikumarkrishnamoorthy-Desktop-JORA-AYANA/c1054895-a8f4-4cc3-8515-2efc1287a3ff/scratchpad/decks/icons/x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027" y="3397179"/>
            <a:ext cx="228234" cy="2282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33101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the same personal details at every property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1005840" y="3986784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3" name="Image 2" descr="/private/tmp/claude-501/-Users-ravikumarkrishnamoorthy-Desktop-JORA-AYANA/c1054895-a8f4-4cc3-8515-2efc1287a3ff/scratchpad/decks/icons/x_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027" y="4018971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at reception for ID, payment, and room assignment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1005840" y="4608576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6" name="Image 3" descr="/private/tmp/claude-501/-Users-ravikumarkrishnamoorthy-Desktop-JORA-AYANA/c1054895-a8f4-4cc3-8515-2efc1287a3ff/scratchpad/decks/icons/x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027" y="4640763"/>
            <a:ext cx="228234" cy="2282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63040" y="4553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pickup, food, and local travel separately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1005840" y="5230368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9" name="Image 4" descr="/private/tmp/claude-501/-Users-ravikumarkrishnamoorthy-Desktop-JORA-AYANA/c1054895-a8f4-4cc3-8515-2efc1287a3ff/scratchpad/decks/icons/x_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027" y="5262555"/>
            <a:ext cx="228234" cy="22823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463040" y="517550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again at checkout to settle up and leave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17920" y="1920240"/>
            <a:ext cx="51206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15"/>
          <p:cNvSpPr/>
          <p:nvPr/>
        </p:nvSpPr>
        <p:spPr>
          <a:xfrm>
            <a:off x="6583680" y="2240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HOTEL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583680" y="2743200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24" name="Image 5" descr="/private/tmp/claude-501/-Users-ravikumarkrishnamoorthy-Desktop-JORA-AYANA/c1054895-a8f4-4cc3-8515-2efc1287a3ff/scratchpad/decks/icons/x_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5867" y="2775387"/>
            <a:ext cx="228234" cy="22823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040880" y="268833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front-desk work for every single arrival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6583680" y="3364992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27" name="Image 6" descr="/private/tmp/claude-501/-Users-ravikumarkrishnamoorthy-Desktop-JORA-AYANA/c1054895-a8f4-4cc3-8515-2efc1287a3ff/scratchpad/decks/icons/x_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5867" y="3397179"/>
            <a:ext cx="228234" cy="228234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7040880" y="33101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add-on and upsell revenue at check-in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6583680" y="3986784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30" name="Image 7" descr="/private/tmp/claude-501/-Users-ravikumarkrishnamoorthy-Desktop-JORA-AYANA/c1054895-a8f4-4cc3-8515-2efc1287a3ff/scratchpad/decks/icons/x_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5867" y="4018971"/>
            <a:ext cx="228234" cy="228234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04088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guest data across systems and visits</a:t>
            </a:r>
            <a:endParaRPr lang="en-US" sz="1300" dirty="0"/>
          </a:p>
        </p:txBody>
      </p:sp>
      <p:sp>
        <p:nvSpPr>
          <p:cNvPr id="32" name="Shape 22"/>
          <p:cNvSpPr/>
          <p:nvPr/>
        </p:nvSpPr>
        <p:spPr>
          <a:xfrm>
            <a:off x="6583680" y="4608576"/>
            <a:ext cx="292608" cy="292608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33" name="Image 8" descr="/private/tmp/claude-501/-Users-ravikumarkrishnamoorthy-Desktop-JORA-AYANA/c1054895-a8f4-4cc3-8515-2efc1287a3ff/scratchpad/decks/icons/x_circl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867" y="4640763"/>
            <a:ext cx="228234" cy="228234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040880" y="45537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Inconsistent, unpredictable arrival experiences</a:t>
            </a:r>
            <a:endParaRPr lang="en-US" sz="1300" dirty="0"/>
          </a:p>
        </p:txBody>
      </p:sp>
      <p:sp>
        <p:nvSpPr>
          <p:cNvPr id="35" name="Text 2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6" name="Text 25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AYANA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for the complete guest journey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is an AI-powered hotel guest-experience platform for India — enabling a traveller to plan, book, pay, personalise, check in, stay, and check out with minimal waiting and no repeated data entry.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11580" y="306324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3993" y="316565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9808" y="39776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44348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search &amp; booking</a:t>
            </a:r>
            <a:endParaRPr lang="en-US" sz="1100" dirty="0"/>
          </a:p>
        </p:txBody>
      </p:sp>
      <p:pic>
        <p:nvPicPr>
          <p:cNvPr id="11" name="Image 1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459" y="3886200"/>
            <a:ext cx="256032" cy="256032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800350" y="27432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71850" y="306324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4" name="Image 2" descr="/private/tmp/claude-501/-Users-ravikumarkrishnamoorthy-Desktop-JORA-AYANA/c1054895-a8f4-4cc3-8515-2efc1287a3ff/scratchpad/decks/icons/credit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263" y="3165653"/>
            <a:ext cx="526694" cy="5266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17195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910078" y="39776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&amp; Pay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2910078" y="44348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&amp; preferences</a:t>
            </a:r>
            <a:endParaRPr lang="en-US" sz="1100" dirty="0"/>
          </a:p>
        </p:txBody>
      </p:sp>
      <p:pic>
        <p:nvPicPr>
          <p:cNvPr id="18" name="Image 3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9729" y="3886200"/>
            <a:ext cx="256032" cy="256032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960620" y="27432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5532120" y="306324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1" name="Image 4" descr="/private/tmp/claude-501/-Users-ravikumarkrishnamoorthy-Desktop-JORA-AYANA/c1054895-a8f4-4cc3-8515-2efc1287a3ff/scratchpad/decks/icons/user_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4533" y="3165653"/>
            <a:ext cx="526694" cy="52669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3222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5070348" y="39776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070348" y="44348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&amp; payment confirmed</a:t>
            </a:r>
            <a:endParaRPr lang="en-US" sz="1100" dirty="0"/>
          </a:p>
        </p:txBody>
      </p:sp>
      <p:pic>
        <p:nvPicPr>
          <p:cNvPr id="25" name="Image 5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9999" y="3886200"/>
            <a:ext cx="256032" cy="25603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7120890" y="27432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7692390" y="306324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8" name="Image 6" descr="/private/tmp/claude-501/-Users-ravikumarkrishnamoorthy-Desktop-JORA-AYANA/c1054895-a8f4-4cc3-8515-2efc1287a3ff/scratchpad/decks/icons/k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94803" y="3165653"/>
            <a:ext cx="526694" cy="52669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49249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7230618" y="39776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Arrive</a:t>
            </a:r>
            <a:endParaRPr lang="en-US" sz="1500" dirty="0"/>
          </a:p>
        </p:txBody>
      </p:sp>
      <p:sp>
        <p:nvSpPr>
          <p:cNvPr id="31" name="Text 22"/>
          <p:cNvSpPr/>
          <p:nvPr/>
        </p:nvSpPr>
        <p:spPr>
          <a:xfrm>
            <a:off x="7230618" y="44348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check-in &amp; key</a:t>
            </a:r>
            <a:endParaRPr lang="en-US" sz="1100" dirty="0"/>
          </a:p>
        </p:txBody>
      </p:sp>
      <p:pic>
        <p:nvPicPr>
          <p:cNvPr id="32" name="Image 7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10269" y="3886200"/>
            <a:ext cx="256032" cy="25603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9281160" y="2743200"/>
            <a:ext cx="1874520" cy="265176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24"/>
          <p:cNvSpPr/>
          <p:nvPr/>
        </p:nvSpPr>
        <p:spPr>
          <a:xfrm>
            <a:off x="9852660" y="3063240"/>
            <a:ext cx="731520" cy="73152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35" name="Image 8" descr="/private/tmp/claude-501/-Users-ravikumarkrishnamoorthy-Desktop-JORA-AYANA/c1054895-a8f4-4cc3-8515-2efc1287a3ff/scratchpad/decks/icons/headphone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5073" y="3165653"/>
            <a:ext cx="526694" cy="526694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10652760" y="29077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A1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26"/>
          <p:cNvSpPr/>
          <p:nvPr/>
        </p:nvSpPr>
        <p:spPr>
          <a:xfrm>
            <a:off x="9390888" y="3977640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&amp; Go</a:t>
            </a:r>
            <a:endParaRPr lang="en-US" sz="1500" dirty="0"/>
          </a:p>
        </p:txBody>
      </p:sp>
      <p:sp>
        <p:nvSpPr>
          <p:cNvPr id="38" name="Text 27"/>
          <p:cNvSpPr/>
          <p:nvPr/>
        </p:nvSpPr>
        <p:spPr>
          <a:xfrm>
            <a:off x="9390888" y="44348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Services, checkout, invoice</a:t>
            </a:r>
            <a:endParaRPr lang="en-US" sz="1100" dirty="0"/>
          </a:p>
        </p:txBody>
      </p:sp>
      <p:sp>
        <p:nvSpPr>
          <p:cNvPr id="39" name="Text 28"/>
          <p:cNvSpPr/>
          <p:nvPr/>
        </p:nvSpPr>
        <p:spPr>
          <a:xfrm>
            <a:off x="64008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promise: book, verify, personalise, arrive, enter your room, and check out — with minimal waiting.</a:t>
            </a:r>
            <a:endParaRPr lang="en-US" sz="1500" dirty="0"/>
          </a:p>
        </p:txBody>
      </p:sp>
      <p:sp>
        <p:nvSpPr>
          <p:cNvPr id="40" name="Text 2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AYANA FITS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don’t replace your PMS — we orchestrate the guest journey around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12C4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4752" y="2468880"/>
            <a:ext cx="585216" cy="585216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6" name="Image 0" descr="/private/tmp/claude-501/-Users-ravikumarkrishnamoorthy-Desktop-JORA-AYANA/c1054895-a8f4-4cc3-8515-2efc1287a3ff/scratchpad/decks/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6682" y="2550810"/>
            <a:ext cx="421356" cy="4213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Traveller</a:t>
            </a:r>
            <a:endParaRPr lang="en-US" sz="1400" dirty="0"/>
          </a:p>
        </p:txBody>
      </p:sp>
      <p:pic>
        <p:nvPicPr>
          <p:cNvPr id="8" name="Image 1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144" y="2843784"/>
            <a:ext cx="256032" cy="25603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535680" y="22860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0A0F1C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4340352" y="2468880"/>
            <a:ext cx="585216" cy="585216"/>
          </a:xfrm>
          <a:prstGeom prst="ellipse">
            <a:avLst/>
          </a:prstGeom>
          <a:solidFill>
            <a:srgbClr val="C6A15B"/>
          </a:solidFill>
          <a:ln/>
        </p:spPr>
      </p:sp>
      <p:pic>
        <p:nvPicPr>
          <p:cNvPr id="11" name="Image 2" descr="/private/tmp/claude-501/-Users-ravikumarkrishnamoorthy-Desktop-JORA-AYANA/c1054895-a8f4-4cc3-8515-2efc1287a3ff/scratchpad/decks/icons/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282" y="2550810"/>
            <a:ext cx="421356" cy="42135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2712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AYANA App</a:t>
            </a:r>
            <a:endParaRPr lang="en-US" sz="1400" dirty="0"/>
          </a:p>
        </p:txBody>
      </p:sp>
      <p:pic>
        <p:nvPicPr>
          <p:cNvPr id="13" name="Image 3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744" y="2843784"/>
            <a:ext cx="256032" cy="256032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31280" y="22860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12C4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7235952" y="2468880"/>
            <a:ext cx="585216" cy="585216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6" name="Image 4" descr="/private/tmp/claude-501/-Users-ravikumarkrishnamoorthy-Desktop-JORA-AYANA/c1054895-a8f4-4cc3-8515-2efc1287a3ff/scratchpad/decks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7882" y="2550810"/>
            <a:ext cx="421356" cy="4213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52272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PMS</a:t>
            </a:r>
            <a:endParaRPr lang="en-US" sz="1400" dirty="0"/>
          </a:p>
        </p:txBody>
      </p:sp>
      <p:pic>
        <p:nvPicPr>
          <p:cNvPr id="18" name="Image 5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8344" y="2843784"/>
            <a:ext cx="256032" cy="256032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9326880" y="2286000"/>
            <a:ext cx="21945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212C48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10131552" y="2468880"/>
            <a:ext cx="585216" cy="585216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1" name="Image 6" descr="/private/tmp/claude-501/-Users-ravikumarkrishnamoorthy-Desktop-JORA-AYANA/c1054895-a8f4-4cc3-8515-2efc1287a3ff/scratchpad/decks/icons/gri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13482" y="2550810"/>
            <a:ext cx="421356" cy="421356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418320" y="31546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Operations</a:t>
            </a:r>
            <a:endParaRPr lang="en-US" sz="1400" dirty="0"/>
          </a:p>
        </p:txBody>
      </p:sp>
      <p:sp>
        <p:nvSpPr>
          <p:cNvPr id="23" name="Text 14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 •  Identity  •  Preferences  •  Services  •  Concierge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640080" y="4754880"/>
            <a:ext cx="10881360" cy="1234440"/>
          </a:xfrm>
          <a:prstGeom prst="roundRect">
            <a:avLst>
              <a:gd name="adj" fmla="val 7407"/>
            </a:avLst>
          </a:prstGeom>
          <a:solidFill>
            <a:srgbClr val="F5F1E7"/>
          </a:solidFill>
          <a:ln/>
        </p:spPr>
      </p:sp>
      <p:sp>
        <p:nvSpPr>
          <p:cNvPr id="25" name="Text 16"/>
          <p:cNvSpPr/>
          <p:nvPr/>
        </p:nvSpPr>
        <p:spPr>
          <a:xfrm>
            <a:off x="1005840" y="4937760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platforms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(OPERA, Mews, and similar) run the hotel: rooms, reservations, billing, housekeeping, keys.  </a:t>
            </a:r>
            <a:pPr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A0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</a:t>
            </a:r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traveller journey across partner hotels and integrates with your existing PMS.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7" name="Text 18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DIFFERENTIATOR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AYANA Ready-to-Room Guarantee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1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guest leaves the airport or station, AYANA confirms all four — or sends an early exception message with a recovery offer.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user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5453" y="2937053"/>
            <a:ext cx="526694" cy="526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Identity is verified</a:t>
            </a:r>
            <a:endParaRPr lang="en-US" sz="1500" dirty="0"/>
          </a:p>
        </p:txBody>
      </p:sp>
      <p:pic>
        <p:nvPicPr>
          <p:cNvPr id="9" name="Image 1" descr="/private/tmp/claude-501/-Users-ravikumarkrishnamoorthy-Desktop-JORA-AYANA/c1054895-a8f4-4cc3-8515-2efc1287a3ff/scratchpad/decks/icons/check_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438912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0" y="25146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29768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redit_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0093" y="2937053"/>
            <a:ext cx="526694" cy="52669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1188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is authorised</a:t>
            </a:r>
            <a:endParaRPr lang="en-US" sz="1500" dirty="0"/>
          </a:p>
        </p:txBody>
      </p:sp>
      <p:pic>
        <p:nvPicPr>
          <p:cNvPr id="14" name="Image 3" descr="/private/tmp/claude-501/-Users-ravikumarkrishnamoorthy-Desktop-JORA-AYANA/c1054895-a8f4-4cc3-8515-2efc1287a3ff/scratchpad/decks/icons/check_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4389120"/>
            <a:ext cx="292608" cy="292608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309360" y="25146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16" name="Shape 10"/>
          <p:cNvSpPr/>
          <p:nvPr/>
        </p:nvSpPr>
        <p:spPr>
          <a:xfrm>
            <a:off x="713232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7" name="Image 4" descr="/private/tmp/claude-501/-Users-ravikumarkrishnamoorthy-Desktop-JORA-AYANA/c1054895-a8f4-4cc3-8515-2efc1287a3ff/scratchpad/decks/icons/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4733" y="2937053"/>
            <a:ext cx="526694" cy="526694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44652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Room is ready</a:t>
            </a:r>
            <a:endParaRPr lang="en-US" sz="1500" dirty="0"/>
          </a:p>
        </p:txBody>
      </p:sp>
      <p:pic>
        <p:nvPicPr>
          <p:cNvPr id="19" name="Image 5" descr="/private/tmp/claude-501/-Users-ravikumarkrishnamoorthy-Desktop-JORA-AYANA/c1054895-a8f4-4cc3-8515-2efc1287a3ff/scratchpad/decks/icons/check_circ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1776" y="4389120"/>
            <a:ext cx="292608" cy="292608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144000" y="2514600"/>
            <a:ext cx="2377440" cy="2286000"/>
          </a:xfrm>
          <a:prstGeom prst="roundRect">
            <a:avLst>
              <a:gd name="adj" fmla="val 4800"/>
            </a:avLst>
          </a:prstGeom>
          <a:solidFill>
            <a:srgbClr val="0F1626"/>
          </a:solidFill>
          <a:ln w="12700">
            <a:solidFill>
              <a:srgbClr val="212C48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9966960" y="2834640"/>
            <a:ext cx="731520" cy="73152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22" name="Image 6" descr="/private/tmp/claude-501/-Users-ravikumarkrishnamoorthy-Desktop-JORA-AYANA/c1054895-a8f4-4cc3-8515-2efc1287a3ff/scratchpad/decks/icons/ke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9373" y="2937053"/>
            <a:ext cx="526694" cy="526694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9281160" y="37490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/ check-in path is ready</a:t>
            </a:r>
            <a:endParaRPr lang="en-US" sz="1500" dirty="0"/>
          </a:p>
        </p:txBody>
      </p:sp>
      <p:pic>
        <p:nvPicPr>
          <p:cNvPr id="24" name="Image 7" descr="/private/tmp/claude-501/-Users-ravikumarkrishnamoorthy-Desktop-JORA-AYANA/c1054895-a8f4-4cc3-8515-2efc1287a3ff/scratchpad/decks/icons/check_circl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6416" y="4389120"/>
            <a:ext cx="292608" cy="29260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9BD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guest goes straight to the room — no queue, no repeated forms, no surprises.</a:t>
            </a:r>
            <a:endParaRPr lang="en-US" sz="1800" dirty="0"/>
          </a:p>
        </p:txBody>
      </p:sp>
      <p:sp>
        <p:nvSpPr>
          <p:cNvPr id="26" name="Text 1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7" name="Text 17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guest 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6" name="Image 0" descr="/private/tmp/claude-501/-Users-ravikumarkrishnamoorthy-Desktop-JORA-AYANA/c1054895-a8f4-4cc3-8515-2efc1287a3ff/scratchpad/decks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&amp; Direct Booking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category selection, hotel-approved offers &amp; packages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960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392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1" name="Image 1" descr="/private/tmp/claude-501/-Users-ravikumarkrishnamoorthy-Desktop-JORA-AYANA/c1054895-a8f4-4cc3-8515-2efc1287a3ff/scratchpad/decks/icons/user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30" y="22713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392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Pre-Arrival Verification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9392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capture, digital registration, secure payment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912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7344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6" name="Image 2" descr="/private/tmp/claude-501/-Users-ravikumarkrishnamoorthy-Desktop-JORA-AYANA/c1054895-a8f4-4cc3-8515-2efc1287a3ff/scratchpad/decks/icons/map_p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250" y="22713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344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Pickup &amp; Local Support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7344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Airport/station pickup, AI local recommendations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1" name="Image 3" descr="/private/tmp/claude-501/-Users-ravikumarkrishnamoorthy-Desktop-JORA-AYANA/c1054895-a8f4-4cc3-8515-2efc1287a3ff/scratchpad/decks/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0" y="451165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/ Kiosk / Mobile Key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to the room, staff fallback always available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960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392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6" name="Image 4" descr="/private/tmp/claude-501/-Users-ravikumarkrishnamoorthy-Desktop-JORA-AYANA/c1054895-a8f4-4cc3-8515-2efc1287a3ff/scratchpad/decks/icons/headphone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30" y="451165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392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Stay Services &amp; Concierge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9392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preferences, baggage, add-ons, special requests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912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7344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31" name="Image 5" descr="/private/tmp/claude-501/-Users-ravikumarkrishnamoorthy-Desktop-JORA-AYANA/c1054895-a8f4-4cc3-8515-2efc1287a3ff/scratchpad/decks/icons/file_tex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250" y="4511650"/>
            <a:ext cx="395021" cy="3950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7344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Checkout &amp; Loyalty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7344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Invoice, feedback, rebooking, cross-hotel loyalty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OPERATIONS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team sees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6" name="Image 0" descr="/private/tmp/claude-501/-Users-ravikumarkrishnamoorthy-Desktop-JORA-AYANA/c1054895-a8f4-4cc3-8515-2efc1287a3ff/scratchpad/decks/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2713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Arrivals Dashboard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arrivals, guest requests, exceptions at a glance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41960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392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1" name="Image 1" descr="/private/tmp/claude-501/-Users-ravikumarkrishnamoorthy-Desktop-JORA-AYANA/c1054895-a8f4-4cc3-8515-2efc1287a3ff/scratchpad/decks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730" y="22713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9392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PMS Integration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9392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Availability, rates, room assignment, billing, checkout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9120" y="192024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73440" y="219456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6" name="Image 2" descr="/private/tmp/claude-501/-Users-ravikumarkrishnamoorthy-Desktop-JORA-AYANA/c1054895-a8f4-4cc3-8515-2efc1287a3ff/scratchpad/decks/icons/clip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250" y="227137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3440" y="288036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Assignment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73440" y="321868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Housekeeping, bell desk, transport, front office, concierge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1" name="Image 3" descr="/private/tmp/claude-501/-Users-ravikumarkrishnamoorthy-Desktop-JORA-AYANA/c1054895-a8f4-4cc3-8515-2efc1287a3ff/scratchpad/decks/icons/trending_u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0" y="451165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Upsell Dashboard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Upgrades and add-on services, hotel-defined price floors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41960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9392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6" name="Image 4" descr="/private/tmp/claude-501/-Users-ravikumarkrishnamoorthy-Desktop-JORA-AYANA/c1054895-a8f4-4cc3-8515-2efc1287a3ff/scratchpad/decks/icons/bar_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30" y="4511650"/>
            <a:ext cx="395021" cy="39502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9392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Settlement &amp; Reporting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9392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Refunds, commission reporting, operational performance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99120" y="4160520"/>
            <a:ext cx="33223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473440" y="4434840"/>
            <a:ext cx="548640" cy="54864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31" name="Image 5" descr="/private/tmp/claude-501/-Users-ravikumarkrishnamoorthy-Desktop-JORA-AYANA/c1054895-a8f4-4cc3-8515-2efc1287a3ff/scratchpad/decks/icons/message_squar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250" y="4511650"/>
            <a:ext cx="395021" cy="39502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73440" y="5120640"/>
            <a:ext cx="277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Guest Feedback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73440" y="5458968"/>
            <a:ext cx="277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feedback captured at every checkout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A 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demonstrable today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simulated prototype covers the full guest journey — live, clickable, and testable end to 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0876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7" name="Image 0" descr="/private/tmp/claude-501/-Users-ravikumarkrishnamoorthy-Desktop-JORA-AYANA/c1054895-a8f4-4cc3-8515-2efc1287a3ff/scratchpad/decks/icons/smartph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371" y="264993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Traveller App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book, pay, verify identity, Ready-to-Room, digital checkout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7472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2" name="Image 1" descr="/private/tmp/claude-501/-Users-ravikumarkrishnamoorthy-Desktop-JORA-AYANA/c1054895-a8f4-4cc3-8515-2efc1287a3ff/scratchpad/decks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11" y="2649931"/>
            <a:ext cx="460858" cy="4608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5760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Hotel Operations Dashboard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65760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office, housekeeping, concierge, finance, room management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7804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17" name="Image 2" descr="/private/tmp/claude-501/-Users-ravikumarkrishnamoorthy-Desktop-JORA-AYANA/c1054895-a8f4-4cc3-8515-2efc1287a3ff/scratchpad/decks/icons/ke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1" y="2649931"/>
            <a:ext cx="460858" cy="4608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Self-Service Kiosk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9224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(face scan / QR), Check Out (folio &amp; refunds), Other Services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44000" y="2286000"/>
            <a:ext cx="2377440" cy="32918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012680" y="256032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22" name="Image 3" descr="/private/tmp/claude-501/-Users-ravikumarkrishnamoorthy-Desktop-JORA-AYANA/c1054895-a8f4-4cc3-8515-2efc1287a3ff/scratchpad/decks/icons/alert_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291" y="2649931"/>
            <a:ext cx="460858" cy="46085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26880" y="342900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 Control Centre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26880" y="402336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Live-tests 13 real failure &amp; recovery scenarios end to end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and payments are simulated for demonstration — no live PMS or payment gateway required to evaluate the experience.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market &amp; pilot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6" name="Image 0" descr="/private/tmp/claude-501/-Users-ravikumarkrishnamoorthy-Desktop-JORA-AYANA/c1054895-a8f4-4cc3-8515-2efc1287a3ff/scratchpad/decks/icons/map_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371" y="2604211"/>
            <a:ext cx="460858" cy="4608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Bengaluru &amp; Hyderabad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first, global expansion later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7472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1" name="Image 1" descr="/private/tmp/claude-501/-Users-ravikumarkrishnamoorthy-Desktop-JORA-AYANA/c1054895-a8f4-4cc3-8515-2efc1287a3ff/scratchpad/decks/icons/brief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3011" y="2604211"/>
            <a:ext cx="460858" cy="4608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5760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&amp; Airport Hotels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5760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Mid-sized to large 3–5 star properties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30936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15" name="Shape 11"/>
          <p:cNvSpPr/>
          <p:nvPr/>
        </p:nvSpPr>
        <p:spPr>
          <a:xfrm>
            <a:off x="717804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16" name="Image 2" descr="/private/tmp/claude-501/-Users-ravikumarkrishnamoorthy-Desktop-JORA-AYANA/c1054895-a8f4-4cc3-8515-2efc1287a3ff/scratchpad/decks/icons/handshak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7651" y="2604211"/>
            <a:ext cx="460858" cy="4608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9224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10–20 Hotels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9224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contracted partner inventory only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144000" y="2194560"/>
            <a:ext cx="2377440" cy="2651760"/>
          </a:xfrm>
          <a:prstGeom prst="roundRect">
            <a:avLst>
              <a:gd name="adj" fmla="val 3846"/>
            </a:avLst>
          </a:prstGeom>
          <a:solidFill>
            <a:srgbClr val="0A0F1C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12680" y="2514600"/>
            <a:ext cx="640080" cy="64008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21" name="Image 3" descr="/private/tmp/claude-501/-Users-ravikumarkrishnamoorthy-Desktop-JORA-AYANA/c1054895-a8f4-4cc3-8515-2efc1287a3ff/scratchpad/decks/icons/smart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2291" y="2604211"/>
            <a:ext cx="460858" cy="46085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3832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Surfaces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326880" y="40233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app + hotel operations dashboard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640080" y="51663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D8A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 focus: business travellers and airport-adjacent stays, where repeated waiting and repeated data entry hurt the most.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920240"/>
            <a:ext cx="1005840" cy="100584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3" name="Image 0" descr="/private/tmp/claude-501/-Users-ravikumarkrishnamoorthy-Desktop-JORA-AYANA/c1054895-a8f4-4cc3-8515-2efc1287a3ff/scratchpad/decks/icons/message_squ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745" y="206105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Questions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0" y="40233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answers to the questions every hotel partner asks first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9582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822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“Will this replace our PMS or our front-desk staff?”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10881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834640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39" y="2868839"/>
            <a:ext cx="242499" cy="2424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7977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AYANA is an orchestration layer for the traveller journey — your PMS still runs rooms, reservations, billing, and housekeeping.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05840" y="3493008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39" y="3527207"/>
            <a:ext cx="242499" cy="2424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4381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integrates with your existing PMS rather than replacing it.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1005840" y="4151376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5" name="Image 3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39" y="4185575"/>
            <a:ext cx="242499" cy="24249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0965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Staff-assisted fallback is always available for failed verification, payment issues, room changes, or any guest needing help.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9582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822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“Will guests trust a face-scan or biometric check-in?”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10881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834640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39" y="2868839"/>
            <a:ext cx="242499" cy="2424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7977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starts with QR / barcode, ID document, and selfie/liveness verification — not iris scanning or robots.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05840" y="3493008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39" y="3527207"/>
            <a:ext cx="242499" cy="2424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4381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face scan doesn’t match, the guest automatically falls back to QR or a staff-assisted lookup — never a dead end.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1005840" y="4151376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5" name="Image 3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39" y="4185575"/>
            <a:ext cx="242499" cy="24249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0965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guest’s name and contact are always shown; the specific room number stays hidden until the moment of real check-in.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wifi_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9582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822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happens when the technology fails — kiosk down, WiFi down?”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10881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834640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39" y="2868839"/>
            <a:ext cx="242499" cy="2424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7977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failure mode has a designed recovery path, not an unhandled error: kiosk offline, network failure, PMS offline, and more.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05840" y="3493008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39" y="3527207"/>
            <a:ext cx="242499" cy="2424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4381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scenario has been individually built and tested to cause a real, checkable state change — not just a status message.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1005840" y="4151376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5" name="Image 3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39" y="4185575"/>
            <a:ext cx="242499" cy="24249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0965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fallback is the same in every case: “please see Front Office — your booking is safe.”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9582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822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“Is our guests’ identity and payment data secure?”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10881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834640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39" y="2868839"/>
            <a:ext cx="242499" cy="2424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7977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consent and privacy controls, with encryption and restricted access to documents and profiles.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05840" y="3493008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39" y="3527207"/>
            <a:ext cx="242499" cy="2424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4381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Tokenised payments — AYANA never stores raw card details — plus fraud monitoring and manual review.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1005840" y="4151376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5" name="Image 3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39" y="4185575"/>
            <a:ext cx="242499" cy="24249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0965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data-retention and deletion policy, with Form C and foreign-guest reporting support built in for India.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perc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9582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822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“Will this take away our control over room pricing?”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10881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834640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39" y="2868839"/>
            <a:ext cx="242499" cy="2424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7977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prices remain fully controlled by the hotel at all times.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05840" y="3493008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39" y="3527207"/>
            <a:ext cx="242499" cy="2424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4381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 offers only hotel-approved discounts, upgrades, or packages — never an independent price.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1005840" y="4151376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5" name="Image 3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39" y="4185575"/>
            <a:ext cx="242499" cy="24249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0965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set price floors, peak-season rules, and cancellation rules; AYANA operates within them.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6A1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 HANDLING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640080" cy="640080"/>
          </a:xfrm>
          <a:prstGeom prst="ellipse">
            <a:avLst/>
          </a:prstGeom>
          <a:solidFill>
            <a:srgbClr val="0A0F1C"/>
          </a:solidFill>
          <a:ln/>
        </p:spPr>
      </p:sp>
      <p:pic>
        <p:nvPicPr>
          <p:cNvPr id="4" name="Image 0" descr="/private/tmp/claude-501/-Users-ravikumarkrishnamoorthy-Desktop-JORA-AYANA/c1054895-a8f4-4cc3-8515-2efc1287a3ff/scratchpad/decks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95829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822960"/>
            <a:ext cx="9966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0A0F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much integration effort does this require from us?”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40080" y="2057400"/>
            <a:ext cx="108813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0584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D8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ANSWER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834640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9" name="Image 1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039" y="2868839"/>
            <a:ext cx="242499" cy="24249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77977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priority is the PMS provider with the fastest feasible supported API for the pilot hotels.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05840" y="3493008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2" name="Image 2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039" y="3527207"/>
            <a:ext cx="242499" cy="2424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343814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is deliberately narrow: bookings, arrivals, guest requests, and room-readiness — not a full system overhaul.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1005840" y="4151376"/>
            <a:ext cx="310896" cy="310896"/>
          </a:xfrm>
          <a:prstGeom prst="ellipse">
            <a:avLst/>
          </a:prstGeom>
          <a:solidFill>
            <a:srgbClr val="F5F1E7"/>
          </a:solidFill>
          <a:ln/>
        </p:spPr>
      </p:sp>
      <p:pic>
        <p:nvPicPr>
          <p:cNvPr id="15" name="Image 3" descr="/private/tmp/claude-501/-Users-ravikumarkrishnamoorthy-Desktop-JORA-AYANA/c1054895-a8f4-4cc3-8515-2efc1287a3ff/scratchpad/decks/icons/check_circle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039" y="4185575"/>
            <a:ext cx="242499" cy="24249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409651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6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dashboard, task assignment, and reporting are ready to use from day one of the pilot.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F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005840"/>
            <a:ext cx="1005840" cy="1005840"/>
          </a:xfrm>
          <a:prstGeom prst="ellipse">
            <a:avLst/>
          </a:prstGeom>
          <a:solidFill>
            <a:srgbClr val="161F35"/>
          </a:solidFill>
          <a:ln/>
        </p:spPr>
      </p:sp>
      <p:pic>
        <p:nvPicPr>
          <p:cNvPr id="3" name="Image 0" descr="/private/tmp/claude-501/-Users-ravikumarkrishnamoorthy-Desktop-JORA-AYANA/c1054895-a8f4-4cc3-8515-2efc1287a3ff/scratchpad/decks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3745" y="1146658"/>
            <a:ext cx="724205" cy="7242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28600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Let’s pilot AYANA together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0" y="31546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9BD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&amp; Hyderabad  •  Business &amp; airport hotels  •  10–20 directly contracted partners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706728" y="420624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706728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agreement</a:t>
            </a:r>
            <a:endParaRPr lang="en-US" sz="1250" dirty="0"/>
          </a:p>
        </p:txBody>
      </p:sp>
      <p:pic>
        <p:nvPicPr>
          <p:cNvPr id="8" name="Image 1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2416" y="4535424"/>
            <a:ext cx="237744" cy="2377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901288" y="420624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901288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integration</a:t>
            </a:r>
            <a:endParaRPr lang="en-US" sz="1250" dirty="0"/>
          </a:p>
        </p:txBody>
      </p:sp>
      <p:pic>
        <p:nvPicPr>
          <p:cNvPr id="11" name="Image 2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976" y="4535424"/>
            <a:ext cx="237744" cy="2377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095848" y="420624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095848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onboarding</a:t>
            </a:r>
            <a:endParaRPr lang="en-US" sz="1250" dirty="0"/>
          </a:p>
        </p:txBody>
      </p:sp>
      <p:pic>
        <p:nvPicPr>
          <p:cNvPr id="14" name="Image 3" descr="/private/tmp/claude-501/-Users-ravikumarkrishnamoorthy-Desktop-JORA-AYANA/c1054895-a8f4-4cc3-8515-2efc1287a3ff/scratchpad/decks/icons/arrow_r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1536" y="4535424"/>
            <a:ext cx="237744" cy="237744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290408" y="4206240"/>
            <a:ext cx="2194560" cy="914400"/>
          </a:xfrm>
          <a:prstGeom prst="roundRect">
            <a:avLst>
              <a:gd name="adj" fmla="val 50000"/>
            </a:avLst>
          </a:prstGeom>
          <a:solidFill>
            <a:srgbClr val="0F1626"/>
          </a:solidFill>
          <a:ln w="12700">
            <a:solidFill>
              <a:srgbClr val="C6A15B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8290408" y="4206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BF9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AYANA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11094415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212C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2026-08-07T22:30:03Z</dcterms:created>
  <dcterms:modified xsi:type="dcterms:W3CDTF">2026-08-07T22:30:03Z</dcterms:modified>
</cp:coreProperties>
</file>