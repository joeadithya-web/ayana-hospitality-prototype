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2.png"/><Relationship Id="rId5" Type="http://schemas.openxmlformats.org/officeDocument/2006/relationships/image" Target="../media/image-2-5.png"/><Relationship Id="rId6" Type="http://schemas.openxmlformats.org/officeDocument/2006/relationships/image" Target="../media/image-2-2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2.png"/><Relationship Id="rId4" Type="http://schemas.openxmlformats.org/officeDocument/2006/relationships/image" Target="../media/image-6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2.png"/><Relationship Id="rId4" Type="http://schemas.openxmlformats.org/officeDocument/2006/relationships/image" Target="../media/image-8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1.png"/><Relationship Id="rId3" Type="http://schemas.openxmlformats.org/officeDocument/2006/relationships/image" Target="../media/image-9-1.png"/><Relationship Id="rId4" Type="http://schemas.openxmlformats.org/officeDocument/2006/relationships/image" Target="../media/image-9-1.png"/><Relationship Id="rId5" Type="http://schemas.openxmlformats.org/officeDocument/2006/relationships/image" Target="../media/image-9-1.png"/><Relationship Id="rId6" Type="http://schemas.openxmlformats.org/officeDocument/2006/relationships/image" Target="../media/image-9-1.png"/><Relationship Id="rId7" Type="http://schemas.openxmlformats.org/officeDocument/2006/relationships/image" Target="../media/image-9-1.png"/><Relationship Id="rId8" Type="http://schemas.openxmlformats.org/officeDocument/2006/relationships/image" Target="../media/image-9-1.png"/><Relationship Id="rId9" Type="http://schemas.openxmlformats.org/officeDocument/2006/relationships/image" Target="../media/image-9-1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1.png"/><Relationship Id="rId3" Type="http://schemas.openxmlformats.org/officeDocument/2006/relationships/image" Target="../media/image-12-1.png"/><Relationship Id="rId4" Type="http://schemas.openxmlformats.org/officeDocument/2006/relationships/image" Target="../media/image-12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1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92928" y="1051560"/>
            <a:ext cx="1005840" cy="1005840"/>
          </a:xfrm>
          <a:prstGeom prst="ellipse">
            <a:avLst/>
          </a:prstGeom>
          <a:solidFill>
            <a:srgbClr val="161F35"/>
          </a:solidFill>
          <a:ln/>
        </p:spPr>
      </p:sp>
      <p:pic>
        <p:nvPicPr>
          <p:cNvPr id="3" name="Image 0" descr="/private/tmp/claude-501/-Users-ravikumarkrishnamoorthy-Desktop-JORA-AYANA/c1054895-a8f4-4cc3-8515-2efc1287a3ff/scratchpad/decks/icons/trending_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33745" y="1192378"/>
            <a:ext cx="724205" cy="7242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FBF9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AYANA</a:t>
            </a:r>
            <a:endParaRPr lang="en-US" sz="6600" dirty="0"/>
          </a:p>
        </p:txBody>
      </p:sp>
      <p:sp>
        <p:nvSpPr>
          <p:cNvPr id="5" name="Text 2"/>
          <p:cNvSpPr/>
          <p:nvPr/>
        </p:nvSpPr>
        <p:spPr>
          <a:xfrm>
            <a:off x="0" y="196596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 OVERVIEW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981048" y="3520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5F1E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revenue-aligned partnership — AYANA earns when the hotel earns.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2438248" y="4160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9BD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economics, payment model, and partnership terms for hotel partners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0" y="594360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Terms  &amp;  Pilot Structure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A0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AI-powered Home-to-Room platform, not another OTA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AYANA is an AI-powered HTR (Home-to-Room) platform for seamless hotel journeys. HTR — "Home to Room, and Back" — is AYANA’s signature framework: the full guest journey from planning at home, through booking, payment, arrival, and room access, to checkout and the onward journey.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3063240"/>
            <a:ext cx="23774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463040" y="3337560"/>
            <a:ext cx="731520" cy="731520"/>
          </a:xfrm>
          <a:prstGeom prst="ellipse">
            <a:avLst/>
          </a:prstGeom>
          <a:solidFill>
            <a:srgbClr val="0A0F1C"/>
          </a:solidFill>
          <a:ln/>
        </p:spPr>
      </p:sp>
      <p:pic>
        <p:nvPicPr>
          <p:cNvPr id="7" name="Image 0" descr="/private/tmp/claude-501/-Users-ravikumarkrishnamoorthy-Desktop-JORA-AYANA/c1054895-a8f4-4cc3-8515-2efc1287a3ff/scratchpad/decks/icons/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5453" y="3439973"/>
            <a:ext cx="526694" cy="52669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9808" y="4206240"/>
            <a:ext cx="2157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at Home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49808" y="4709160"/>
            <a:ext cx="2157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&amp; direct booking</a:t>
            </a:r>
            <a:endParaRPr lang="en-US" sz="1050" dirty="0"/>
          </a:p>
        </p:txBody>
      </p:sp>
      <p:pic>
        <p:nvPicPr>
          <p:cNvPr id="10" name="Image 1" descr="/private/tmp/claude-501/-Users-ravikumarkrishnamoorthy-Desktop-JORA-AYANA/c1054895-a8f4-4cc3-8515-2efc1287a3ff/scratchpad/decks/icons/arrow_r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7144" y="4114800"/>
            <a:ext cx="256032" cy="256032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352800" y="3063240"/>
            <a:ext cx="23774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175760" y="3337560"/>
            <a:ext cx="731520" cy="731520"/>
          </a:xfrm>
          <a:prstGeom prst="ellipse">
            <a:avLst/>
          </a:prstGeom>
          <a:solidFill>
            <a:srgbClr val="0A0F1C"/>
          </a:solidFill>
          <a:ln/>
        </p:spPr>
      </p:sp>
      <p:pic>
        <p:nvPicPr>
          <p:cNvPr id="13" name="Image 2" descr="/private/tmp/claude-501/-Users-ravikumarkrishnamoorthy-Desktop-JORA-AYANA/c1054895-a8f4-4cc3-8515-2efc1287a3ff/scratchpad/decks/icons/credit_car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8173" y="3439973"/>
            <a:ext cx="526694" cy="52669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462528" y="4206240"/>
            <a:ext cx="2157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 &amp; Pay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3462528" y="4709160"/>
            <a:ext cx="2157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Hotel-approved offers &amp; payment</a:t>
            </a:r>
            <a:endParaRPr lang="en-US" sz="1050" dirty="0"/>
          </a:p>
        </p:txBody>
      </p:sp>
      <p:pic>
        <p:nvPicPr>
          <p:cNvPr id="16" name="Image 3" descr="/private/tmp/claude-501/-Users-ravikumarkrishnamoorthy-Desktop-JORA-AYANA/c1054895-a8f4-4cc3-8515-2efc1287a3ff/scratchpad/decks/icons/arrow_righ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9864" y="4114800"/>
            <a:ext cx="256032" cy="256032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6065520" y="3063240"/>
            <a:ext cx="23774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6888480" y="3337560"/>
            <a:ext cx="731520" cy="731520"/>
          </a:xfrm>
          <a:prstGeom prst="ellipse">
            <a:avLst/>
          </a:prstGeom>
          <a:solidFill>
            <a:srgbClr val="0A0F1C"/>
          </a:solidFill>
          <a:ln/>
        </p:spPr>
      </p:sp>
      <p:pic>
        <p:nvPicPr>
          <p:cNvPr id="19" name="Image 4" descr="/private/tmp/claude-501/-Users-ravikumarkrishnamoorthy-Desktop-JORA-AYANA/c1054895-a8f4-4cc3-8515-2efc1287a3ff/scratchpad/decks/icons/ke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0893" y="3439973"/>
            <a:ext cx="526694" cy="526694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175248" y="4206240"/>
            <a:ext cx="2157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Arrival &amp; Room Access</a:t>
            </a:r>
            <a:endParaRPr lang="en-US" sz="1400" dirty="0"/>
          </a:p>
        </p:txBody>
      </p:sp>
      <p:sp>
        <p:nvSpPr>
          <p:cNvPr id="21" name="Text 14"/>
          <p:cNvSpPr/>
          <p:nvPr/>
        </p:nvSpPr>
        <p:spPr>
          <a:xfrm>
            <a:off x="6175248" y="4709160"/>
            <a:ext cx="2157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Verified, self check-in</a:t>
            </a:r>
            <a:endParaRPr lang="en-US" sz="1050" dirty="0"/>
          </a:p>
        </p:txBody>
      </p:sp>
      <p:pic>
        <p:nvPicPr>
          <p:cNvPr id="22" name="Image 5" descr="/private/tmp/claude-501/-Users-ravikumarkrishnamoorthy-Desktop-JORA-AYANA/c1054895-a8f4-4cc3-8515-2efc1287a3ff/scratchpad/decks/icons/arrow_righ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82584" y="4114800"/>
            <a:ext cx="256032" cy="256032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8778240" y="3063240"/>
            <a:ext cx="23774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24" name="Shape 16"/>
          <p:cNvSpPr/>
          <p:nvPr/>
        </p:nvSpPr>
        <p:spPr>
          <a:xfrm>
            <a:off x="9601200" y="3337560"/>
            <a:ext cx="731520" cy="731520"/>
          </a:xfrm>
          <a:prstGeom prst="ellipse">
            <a:avLst/>
          </a:prstGeom>
          <a:solidFill>
            <a:srgbClr val="0A0F1C"/>
          </a:solidFill>
          <a:ln/>
        </p:spPr>
      </p:sp>
      <p:pic>
        <p:nvPicPr>
          <p:cNvPr id="25" name="Image 6" descr="/private/tmp/claude-501/-Users-ravikumarkrishnamoorthy-Desktop-JORA-AYANA/c1054895-a8f4-4cc3-8515-2efc1287a3ff/scratchpad/decks/icons/refresh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03613" y="3439973"/>
            <a:ext cx="526694" cy="526694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8887968" y="4206240"/>
            <a:ext cx="2157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Checkout &amp; Onward</a:t>
            </a:r>
            <a:endParaRPr lang="en-US" sz="1400" dirty="0"/>
          </a:p>
        </p:txBody>
      </p:sp>
      <p:sp>
        <p:nvSpPr>
          <p:cNvPr id="27" name="Text 18"/>
          <p:cNvSpPr/>
          <p:nvPr/>
        </p:nvSpPr>
        <p:spPr>
          <a:xfrm>
            <a:off x="8887968" y="4709160"/>
            <a:ext cx="2157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Invoice, feedback, rebooking</a:t>
            </a:r>
            <a:endParaRPr lang="en-US" sz="1050" dirty="0"/>
          </a:p>
        </p:txBody>
      </p:sp>
      <p:sp>
        <p:nvSpPr>
          <p:cNvPr id="28" name="Text 19"/>
          <p:cNvSpPr/>
          <p:nvPr/>
        </p:nvSpPr>
        <p:spPr>
          <a:xfrm>
            <a:off x="640080" y="57150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AD8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One-line positioning: AYANA is an AI-powered HTR platform for seamless hotel journeys.</a:t>
            </a:r>
            <a:endParaRPr lang="en-US" sz="1400" dirty="0"/>
          </a:p>
        </p:txBody>
      </p:sp>
      <p:sp>
        <p:nvSpPr>
          <p:cNvPr id="29" name="Text 20"/>
          <p:cNvSpPr/>
          <p:nvPr/>
        </p:nvSpPr>
        <p:spPr>
          <a:xfrm>
            <a:off x="64008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AYANA</a:t>
            </a:r>
            <a:endParaRPr lang="en-US" sz="900" dirty="0"/>
          </a:p>
        </p:txBody>
      </p:sp>
      <p:sp>
        <p:nvSpPr>
          <p:cNvPr id="30" name="Text 21"/>
          <p:cNvSpPr/>
          <p:nvPr/>
        </p:nvSpPr>
        <p:spPr>
          <a:xfrm>
            <a:off x="1109441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 FOR HOTELS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A0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hotels gain from partnering with AYANA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32232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874520"/>
            <a:ext cx="548640" cy="548640"/>
          </a:xfrm>
          <a:prstGeom prst="ellipse">
            <a:avLst/>
          </a:prstGeom>
          <a:solidFill>
            <a:srgbClr val="0A0F1C"/>
          </a:solidFill>
          <a:ln/>
        </p:spPr>
      </p:sp>
      <p:pic>
        <p:nvPicPr>
          <p:cNvPr id="6" name="Image 0" descr="/private/tmp/claude-501/-Users-ravikumarkrishnamoorthy-Desktop-JORA-AYANA/c1054895-a8f4-4cc3-8515-2efc1287a3ff/scratchpad/decks/icons/trending_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1210" y="1951330"/>
            <a:ext cx="395021" cy="3950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2560320"/>
            <a:ext cx="277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0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Capture Missed Upsell Revenue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914400" y="2898648"/>
            <a:ext cx="277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Upsell dashboard surfaces upgrades and add-ons at booking and arrival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419600" y="1600200"/>
            <a:ext cx="332232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93920" y="1874520"/>
            <a:ext cx="548640" cy="548640"/>
          </a:xfrm>
          <a:prstGeom prst="ellipse">
            <a:avLst/>
          </a:prstGeom>
          <a:solidFill>
            <a:srgbClr val="0A0F1C"/>
          </a:solidFill>
          <a:ln/>
        </p:spPr>
      </p:sp>
      <p:pic>
        <p:nvPicPr>
          <p:cNvPr id="11" name="Image 1" descr="/private/tmp/claude-501/-Users-ravikumarkrishnamoorthy-Desktop-JORA-AYANA/c1054895-a8f4-4cc3-8515-2efc1287a3ff/scratchpad/decks/icons/clipbo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0730" y="1951330"/>
            <a:ext cx="395021" cy="39502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93920" y="2560320"/>
            <a:ext cx="277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0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Lighter Front-Desk Load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693920" y="2898648"/>
            <a:ext cx="277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Repetitive registration and payment work shifts to pre-arrival and self-service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199120" y="1600200"/>
            <a:ext cx="332232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73440" y="1874520"/>
            <a:ext cx="548640" cy="548640"/>
          </a:xfrm>
          <a:prstGeom prst="ellipse">
            <a:avLst/>
          </a:prstGeom>
          <a:solidFill>
            <a:srgbClr val="0A0F1C"/>
          </a:solidFill>
          <a:ln/>
        </p:spPr>
      </p:sp>
      <p:pic>
        <p:nvPicPr>
          <p:cNvPr id="16" name="Image 2" descr="/private/tmp/claude-501/-Users-ravikumarkrishnamoorthy-Desktop-JORA-AYANA/c1054895-a8f4-4cc3-8515-2efc1287a3ff/scratchpad/decks/icons/us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0250" y="1951330"/>
            <a:ext cx="395021" cy="39502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73440" y="2560320"/>
            <a:ext cx="277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0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Consolidated Guest Data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473440" y="2898648"/>
            <a:ext cx="277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traveller profile instead of fragmented records across systems and visits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40080" y="3840480"/>
            <a:ext cx="332232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14400" y="4114800"/>
            <a:ext cx="548640" cy="548640"/>
          </a:xfrm>
          <a:prstGeom prst="ellipse">
            <a:avLst/>
          </a:prstGeom>
          <a:solidFill>
            <a:srgbClr val="0A0F1C"/>
          </a:solidFill>
          <a:ln/>
        </p:spPr>
      </p:sp>
      <p:pic>
        <p:nvPicPr>
          <p:cNvPr id="21" name="Image 3" descr="/private/tmp/claude-501/-Users-ravikumarkrishnamoorthy-Desktop-JORA-AYANA/c1054895-a8f4-4cc3-8515-2efc1287a3ff/scratchpad/decks/icons/bar_char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1210" y="4191610"/>
            <a:ext cx="395021" cy="39502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4400" y="4800600"/>
            <a:ext cx="277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0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Predictable, Reportable Revenue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914400" y="5138928"/>
            <a:ext cx="277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Settlement, refund, and commission reporting built into the hotel dashboard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419600" y="3840480"/>
            <a:ext cx="332232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693920" y="4114800"/>
            <a:ext cx="548640" cy="548640"/>
          </a:xfrm>
          <a:prstGeom prst="ellipse">
            <a:avLst/>
          </a:prstGeom>
          <a:solidFill>
            <a:srgbClr val="0A0F1C"/>
          </a:solidFill>
          <a:ln/>
        </p:spPr>
      </p:sp>
      <p:pic>
        <p:nvPicPr>
          <p:cNvPr id="26" name="Image 4" descr="/private/tmp/claude-501/-Users-ravikumarkrishnamoorthy-Desktop-JORA-AYANA/c1054895-a8f4-4cc3-8515-2efc1287a3ff/scratchpad/decks/icons/check_circle_go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0730" y="4191610"/>
            <a:ext cx="395021" cy="395021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693920" y="4800600"/>
            <a:ext cx="277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0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Consistent Arrivals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4693920" y="5138928"/>
            <a:ext cx="277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Ready-to-Room guarantee reduces inconsistent, unpredictable experiences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8199120" y="3840480"/>
            <a:ext cx="332232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473440" y="4114800"/>
            <a:ext cx="548640" cy="548640"/>
          </a:xfrm>
          <a:prstGeom prst="ellipse">
            <a:avLst/>
          </a:prstGeom>
          <a:solidFill>
            <a:srgbClr val="0A0F1C"/>
          </a:solidFill>
          <a:ln/>
        </p:spPr>
      </p:sp>
      <p:pic>
        <p:nvPicPr>
          <p:cNvPr id="31" name="Image 5" descr="/private/tmp/claude-501/-Users-ravikumarkrishnamoorthy-Desktop-JORA-AYANA/c1054895-a8f4-4cc3-8515-2efc1287a3ff/scratchpad/decks/icons/handshak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50250" y="4191610"/>
            <a:ext cx="395021" cy="395021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473440" y="4800600"/>
            <a:ext cx="277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0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Cross-Hotel Loyalty Reach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8473440" y="5138928"/>
            <a:ext cx="277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AYANA loyalty spans partner hotels, encouraging repeat bookings network-wide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64008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AYANA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09441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BF9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AYANA earns — aligned with your bookings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AYANA is not a fee-for-access platform. Revenue is earned alongside the hotel’s own bookings, not ahead of them.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514600"/>
            <a:ext cx="2377440" cy="2651760"/>
          </a:xfrm>
          <a:prstGeom prst="roundRect">
            <a:avLst>
              <a:gd name="adj" fmla="val 4615"/>
            </a:avLst>
          </a:prstGeom>
          <a:solidFill>
            <a:srgbClr val="0F1626"/>
          </a:solidFill>
          <a:ln w="12700">
            <a:solidFill>
              <a:srgbClr val="212C4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63040" y="2834640"/>
            <a:ext cx="731520" cy="731520"/>
          </a:xfrm>
          <a:prstGeom prst="ellipse">
            <a:avLst/>
          </a:prstGeom>
          <a:solidFill>
            <a:srgbClr val="161F35"/>
          </a:solidFill>
          <a:ln/>
        </p:spPr>
      </p:sp>
      <p:pic>
        <p:nvPicPr>
          <p:cNvPr id="7" name="Image 0" descr="/private/tmp/claude-501/-Users-ravikumarkrishnamoorthy-Desktop-JORA-AYANA/c1054895-a8f4-4cc3-8515-2efc1287a3ff/scratchpad/decks/icons/handshak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5453" y="2937053"/>
            <a:ext cx="526694" cy="52669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4672" y="3703320"/>
            <a:ext cx="20482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BF9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 Hotel Contracts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04672" y="4297680"/>
            <a:ext cx="20482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9BD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AYANA contracts directly with each partner hotel — no intermediary marketplace layer.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474720" y="2514600"/>
            <a:ext cx="2377440" cy="2651760"/>
          </a:xfrm>
          <a:prstGeom prst="roundRect">
            <a:avLst>
              <a:gd name="adj" fmla="val 4615"/>
            </a:avLst>
          </a:prstGeom>
          <a:solidFill>
            <a:srgbClr val="0F1626"/>
          </a:solidFill>
          <a:ln w="12700">
            <a:solidFill>
              <a:srgbClr val="212C4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297680" y="2834640"/>
            <a:ext cx="731520" cy="731520"/>
          </a:xfrm>
          <a:prstGeom prst="ellipse">
            <a:avLst/>
          </a:prstGeom>
          <a:solidFill>
            <a:srgbClr val="161F35"/>
          </a:solidFill>
          <a:ln/>
        </p:spPr>
      </p:sp>
      <p:pic>
        <p:nvPicPr>
          <p:cNvPr id="12" name="Image 1" descr="/private/tmp/claude-501/-Users-ravikumarkrishnamoorthy-Desktop-JORA-AYANA/c1054895-a8f4-4cc3-8515-2efc1287a3ff/scratchpad/decks/icons/perc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0093" y="2937053"/>
            <a:ext cx="526694" cy="52669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39312" y="3703320"/>
            <a:ext cx="20482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BF9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Commission Per Completed Booking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639312" y="4297680"/>
            <a:ext cx="20482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9BD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AYANA earns a commission only when a booking is completed — revenue-aligned, not a flat fee.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309360" y="2514600"/>
            <a:ext cx="2377440" cy="2651760"/>
          </a:xfrm>
          <a:prstGeom prst="roundRect">
            <a:avLst>
              <a:gd name="adj" fmla="val 4615"/>
            </a:avLst>
          </a:prstGeom>
          <a:solidFill>
            <a:srgbClr val="0F1626"/>
          </a:solidFill>
          <a:ln w="12700">
            <a:solidFill>
              <a:srgbClr val="212C48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132320" y="2834640"/>
            <a:ext cx="731520" cy="731520"/>
          </a:xfrm>
          <a:prstGeom prst="ellipse">
            <a:avLst/>
          </a:prstGeom>
          <a:solidFill>
            <a:srgbClr val="161F35"/>
          </a:solidFill>
          <a:ln/>
        </p:spPr>
      </p:sp>
      <p:pic>
        <p:nvPicPr>
          <p:cNvPr id="17" name="Image 2" descr="/private/tmp/claude-501/-Users-ravikumarkrishnamoorthy-Desktop-JORA-AYANA/c1054895-a8f4-4cc3-8515-2efc1287a3ff/scratchpad/decks/icons/credit_car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4733" y="2937053"/>
            <a:ext cx="526694" cy="52669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73952" y="3703320"/>
            <a:ext cx="20482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BF9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Compliant Payment Collection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473952" y="4297680"/>
            <a:ext cx="20482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9BD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Traveller payment is collected by AYANA through a compliant, tokenised payment gateway.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9144000" y="2514600"/>
            <a:ext cx="2377440" cy="2651760"/>
          </a:xfrm>
          <a:prstGeom prst="roundRect">
            <a:avLst>
              <a:gd name="adj" fmla="val 4615"/>
            </a:avLst>
          </a:prstGeom>
          <a:solidFill>
            <a:srgbClr val="0F1626"/>
          </a:solidFill>
          <a:ln w="12700">
            <a:solidFill>
              <a:srgbClr val="212C48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9966960" y="2834640"/>
            <a:ext cx="731520" cy="731520"/>
          </a:xfrm>
          <a:prstGeom prst="ellipse">
            <a:avLst/>
          </a:prstGeom>
          <a:solidFill>
            <a:srgbClr val="161F35"/>
          </a:solidFill>
          <a:ln/>
        </p:spPr>
      </p:sp>
      <p:pic>
        <p:nvPicPr>
          <p:cNvPr id="22" name="Image 3" descr="/private/tmp/claude-501/-Users-ravikumarkrishnamoorthy-Desktop-JORA-AYANA/c1054895-a8f4-4cc3-8515-2efc1287a3ff/scratchpad/decks/icons/refresh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69373" y="2937053"/>
            <a:ext cx="526694" cy="52669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308592" y="3703320"/>
            <a:ext cx="20482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BF9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Agreed Settlement &amp; Payout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9308592" y="4297680"/>
            <a:ext cx="20482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9BD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Funds are settled with hotels under agreed cancellation and payout rules.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640080" y="54406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D9BD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Room prices remain fully controlled by the hotel — AYANA earns only through its own commission.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64008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AYANA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109441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&amp; ADVANCE TERMS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0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Guest payment model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advance-payment tiers protect both traveller flexibility and hotel-confirmed revenue.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5120640" cy="2011680"/>
          </a:xfrm>
          <a:prstGeom prst="roundRect">
            <a:avLst>
              <a:gd name="adj" fmla="val 5455"/>
            </a:avLst>
          </a:prstGeom>
          <a:solidFill>
            <a:srgbClr val="0A0F1C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51460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C6A1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25%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1005840" y="35204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F9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Non-Peak Advance Payment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385876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BD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advance payment collected at booking during non-peak periods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00800" y="2286000"/>
            <a:ext cx="5120640" cy="2011680"/>
          </a:xfrm>
          <a:prstGeom prst="roundRect">
            <a:avLst>
              <a:gd name="adj" fmla="val 5455"/>
            </a:avLst>
          </a:prstGeom>
          <a:solidFill>
            <a:srgbClr val="0A0F1C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0" y="251460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C6A1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50%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6766560" y="35204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F9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Peak Advance Payment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766560" y="385876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BD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advance payment collected at booking during peak periods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0080" y="4617720"/>
            <a:ext cx="10881360" cy="1371600"/>
          </a:xfrm>
          <a:prstGeom prst="roundRect">
            <a:avLst>
              <a:gd name="adj" fmla="val 6667"/>
            </a:avLst>
          </a:prstGeom>
          <a:solidFill>
            <a:srgbClr val="F5F1E7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4800600"/>
            <a:ext cx="10149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0A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"Park" price option: 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6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for 24 hours when booked at least two days in advance, giving travellers room to confirm.  </a:t>
            </a:r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0A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reminders 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6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WhatsApp, email, or phone keep pending bookings on track to convert.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4008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AYANA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09441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STAYS IN CONTROL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640080" y="822960"/>
            <a:ext cx="640080" cy="640080"/>
          </a:xfrm>
          <a:prstGeom prst="ellipse">
            <a:avLst/>
          </a:prstGeom>
          <a:solidFill>
            <a:srgbClr val="0A0F1C"/>
          </a:solidFill>
          <a:ln/>
        </p:spPr>
      </p:sp>
      <p:pic>
        <p:nvPicPr>
          <p:cNvPr id="4" name="Image 0" descr="/private/tmp/claude-501/-Users-ravikumarkrishnamoorthy-Desktop-JORA-AYANA/c1054895-a8f4-4cc3-8515-2efc1287a3ff/scratchpad/decks/icons/perc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9691" y="912571"/>
            <a:ext cx="460858" cy="46085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63040" y="777240"/>
            <a:ext cx="9966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0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Pricing and commercial rules remain yours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640080" y="2011680"/>
            <a:ext cx="10881360" cy="402336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005840" y="2423160"/>
            <a:ext cx="310896" cy="310896"/>
          </a:xfrm>
          <a:prstGeom prst="ellipse">
            <a:avLst/>
          </a:prstGeom>
          <a:solidFill>
            <a:srgbClr val="F5F1E7"/>
          </a:solidFill>
          <a:ln/>
        </p:spPr>
      </p:sp>
      <p:pic>
        <p:nvPicPr>
          <p:cNvPr id="8" name="Image 1" descr="/private/tmp/claude-501/-Users-ravikumarkrishnamoorthy-Desktop-JORA-AYANA/c1054895-a8f4-4cc3-8515-2efc1287a3ff/scratchpad/decks/icons/check_circle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039" y="2457359"/>
            <a:ext cx="242499" cy="24249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08760" y="2368296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6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prices remain fully controlled by the hotel at all times.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1005840" y="3081528"/>
            <a:ext cx="310896" cy="310896"/>
          </a:xfrm>
          <a:prstGeom prst="ellipse">
            <a:avLst/>
          </a:prstGeom>
          <a:solidFill>
            <a:srgbClr val="F5F1E7"/>
          </a:solidFill>
          <a:ln/>
        </p:spPr>
      </p:sp>
      <p:pic>
        <p:nvPicPr>
          <p:cNvPr id="11" name="Image 2" descr="/private/tmp/claude-501/-Users-ravikumarkrishnamoorthy-Desktop-JORA-AYANA/c1054895-a8f4-4cc3-8515-2efc1287a3ff/scratchpad/decks/icons/check_circle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039" y="3115727"/>
            <a:ext cx="242499" cy="24249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508760" y="3026664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6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AYANA offers only hotel-approved discounts, upgrades, or packages — never an independent price.</a:t>
            </a:r>
            <a:endParaRPr lang="en-US" sz="1450" dirty="0"/>
          </a:p>
        </p:txBody>
      </p:sp>
      <p:sp>
        <p:nvSpPr>
          <p:cNvPr id="13" name="Shape 8"/>
          <p:cNvSpPr/>
          <p:nvPr/>
        </p:nvSpPr>
        <p:spPr>
          <a:xfrm>
            <a:off x="1005840" y="3739896"/>
            <a:ext cx="310896" cy="310896"/>
          </a:xfrm>
          <a:prstGeom prst="ellipse">
            <a:avLst/>
          </a:prstGeom>
          <a:solidFill>
            <a:srgbClr val="F5F1E7"/>
          </a:solidFill>
          <a:ln/>
        </p:spPr>
      </p:sp>
      <p:pic>
        <p:nvPicPr>
          <p:cNvPr id="14" name="Image 3" descr="/private/tmp/claude-501/-Users-ravikumarkrishnamoorthy-Desktop-JORA-AYANA/c1054895-a8f4-4cc3-8515-2efc1287a3ff/scratchpad/decks/icons/check_circle_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0039" y="3774095"/>
            <a:ext cx="242499" cy="242499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508760" y="3685032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6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Hotels set price floors, peak-season rules, and cancellation rules; AYANA operates within them.</a:t>
            </a:r>
            <a:endParaRPr lang="en-US" sz="1450" dirty="0"/>
          </a:p>
        </p:txBody>
      </p:sp>
      <p:sp>
        <p:nvSpPr>
          <p:cNvPr id="16" name="Text 10"/>
          <p:cNvSpPr/>
          <p:nvPr/>
        </p:nvSpPr>
        <p:spPr>
          <a:xfrm>
            <a:off x="64008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AYANA</a:t>
            </a:r>
            <a:endParaRPr lang="en-US" sz="900" dirty="0"/>
          </a:p>
        </p:txBody>
      </p:sp>
      <p:sp>
        <p:nvSpPr>
          <p:cNvPr id="17" name="Text 11"/>
          <p:cNvSpPr/>
          <p:nvPr/>
        </p:nvSpPr>
        <p:spPr>
          <a:xfrm>
            <a:off x="1109441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SETTLEMENT &amp; REPORTING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0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financial visibility, built in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a hotel’s finance and revenue teams need to reconcile and act, without leaving the dashboard.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3322320" cy="2880360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606040"/>
            <a:ext cx="640080" cy="640080"/>
          </a:xfrm>
          <a:prstGeom prst="ellipse">
            <a:avLst/>
          </a:prstGeom>
          <a:solidFill>
            <a:srgbClr val="0A0F1C"/>
          </a:solidFill>
          <a:ln/>
        </p:spPr>
      </p:sp>
      <p:pic>
        <p:nvPicPr>
          <p:cNvPr id="7" name="Image 0" descr="/private/tmp/claude-501/-Users-ravikumarkrishnamoorthy-Desktop-JORA-AYANA/c1054895-a8f4-4cc3-8515-2efc1287a3ff/scratchpad/decks/icons/bar_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9731" y="2695651"/>
            <a:ext cx="460858" cy="46085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3429000"/>
            <a:ext cx="277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0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Settlement &amp; Commission Reporting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914400" y="4023360"/>
            <a:ext cx="277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booking, refund, and commission line reconciled in the hotel dashboard.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419600" y="2286000"/>
            <a:ext cx="3322320" cy="2880360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39640" y="2606040"/>
            <a:ext cx="640080" cy="640080"/>
          </a:xfrm>
          <a:prstGeom prst="ellipse">
            <a:avLst/>
          </a:prstGeom>
          <a:solidFill>
            <a:srgbClr val="0A0F1C"/>
          </a:solidFill>
          <a:ln/>
        </p:spPr>
      </p:sp>
      <p:pic>
        <p:nvPicPr>
          <p:cNvPr id="12" name="Image 1" descr="/private/tmp/claude-501/-Users-ravikumarkrishnamoorthy-Desktop-JORA-AYANA/c1054895-a8f4-4cc3-8515-2efc1287a3ff/scratchpad/decks/icons/trending_u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9251" y="2695651"/>
            <a:ext cx="460858" cy="46085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93920" y="3429000"/>
            <a:ext cx="277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0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Upsell Dashboard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4693920" y="4023360"/>
            <a:ext cx="277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upgrade and add-on revenue by category and by stay.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199120" y="2286000"/>
            <a:ext cx="3322320" cy="2880360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519160" y="2606040"/>
            <a:ext cx="640080" cy="640080"/>
          </a:xfrm>
          <a:prstGeom prst="ellipse">
            <a:avLst/>
          </a:prstGeom>
          <a:solidFill>
            <a:srgbClr val="0A0F1C"/>
          </a:solidFill>
          <a:ln/>
        </p:spPr>
      </p:sp>
      <p:pic>
        <p:nvPicPr>
          <p:cNvPr id="17" name="Image 2" descr="/private/tmp/claude-501/-Users-ravikumarkrishnamoorthy-Desktop-JORA-AYANA/c1054895-a8f4-4cc3-8515-2efc1287a3ff/scratchpad/decks/icons/message_squar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8771" y="2695651"/>
            <a:ext cx="460858" cy="46085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473440" y="3429000"/>
            <a:ext cx="277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0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Guest Feedback &amp; Performance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8473440" y="4023360"/>
            <a:ext cx="277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feedback and operational performance captured at every checkout.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64008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AYANA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09441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&amp; TRUST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640080" y="822960"/>
            <a:ext cx="640080" cy="640080"/>
          </a:xfrm>
          <a:prstGeom prst="ellipse">
            <a:avLst/>
          </a:prstGeom>
          <a:solidFill>
            <a:srgbClr val="0A0F1C"/>
          </a:solidFill>
          <a:ln/>
        </p:spPr>
      </p:sp>
      <p:pic>
        <p:nvPicPr>
          <p:cNvPr id="4" name="Image 0" descr="/private/tmp/claude-501/-Users-ravikumarkrishnamoorthy-Desktop-JORA-AYANA/c1054895-a8f4-4cc3-8515-2efc1287a3ff/scratchpad/decks/icons/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9691" y="912571"/>
            <a:ext cx="460858" cy="46085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63040" y="777240"/>
            <a:ext cx="9966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0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Handling guest identity and payment responsibly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640080" y="2011680"/>
            <a:ext cx="10881360" cy="402336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005840" y="2423160"/>
            <a:ext cx="310896" cy="310896"/>
          </a:xfrm>
          <a:prstGeom prst="ellipse">
            <a:avLst/>
          </a:prstGeom>
          <a:solidFill>
            <a:srgbClr val="F5F1E7"/>
          </a:solidFill>
          <a:ln/>
        </p:spPr>
      </p:sp>
      <p:pic>
        <p:nvPicPr>
          <p:cNvPr id="8" name="Image 1" descr="/private/tmp/claude-501/-Users-ravikumarkrishnamoorthy-Desktop-JORA-AYANA/c1054895-a8f4-4cc3-8515-2efc1287a3ff/scratchpad/decks/icons/check_circle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039" y="2457359"/>
            <a:ext cx="242499" cy="24249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08760" y="2368296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6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consent and privacy controls, with encryption and restricted access to documents and profiles.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1005840" y="3081528"/>
            <a:ext cx="310896" cy="310896"/>
          </a:xfrm>
          <a:prstGeom prst="ellipse">
            <a:avLst/>
          </a:prstGeom>
          <a:solidFill>
            <a:srgbClr val="F5F1E7"/>
          </a:solidFill>
          <a:ln/>
        </p:spPr>
      </p:sp>
      <p:pic>
        <p:nvPicPr>
          <p:cNvPr id="11" name="Image 2" descr="/private/tmp/claude-501/-Users-ravikumarkrishnamoorthy-Desktop-JORA-AYANA/c1054895-a8f4-4cc3-8515-2efc1287a3ff/scratchpad/decks/icons/check_circle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039" y="3115727"/>
            <a:ext cx="242499" cy="24249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508760" y="3026664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6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Tokenised payments — AYANA never stores raw card details — plus fraud monitoring and manual review.</a:t>
            </a:r>
            <a:endParaRPr lang="en-US" sz="1450" dirty="0"/>
          </a:p>
        </p:txBody>
      </p:sp>
      <p:sp>
        <p:nvSpPr>
          <p:cNvPr id="13" name="Shape 8"/>
          <p:cNvSpPr/>
          <p:nvPr/>
        </p:nvSpPr>
        <p:spPr>
          <a:xfrm>
            <a:off x="1005840" y="3739896"/>
            <a:ext cx="310896" cy="310896"/>
          </a:xfrm>
          <a:prstGeom prst="ellipse">
            <a:avLst/>
          </a:prstGeom>
          <a:solidFill>
            <a:srgbClr val="F5F1E7"/>
          </a:solidFill>
          <a:ln/>
        </p:spPr>
      </p:sp>
      <p:pic>
        <p:nvPicPr>
          <p:cNvPr id="14" name="Image 3" descr="/private/tmp/claude-501/-Users-ravikumarkrishnamoorthy-Desktop-JORA-AYANA/c1054895-a8f4-4cc3-8515-2efc1287a3ff/scratchpad/decks/icons/check_circle_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0039" y="3774095"/>
            <a:ext cx="242499" cy="242499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508760" y="3685032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6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data-retention and deletion policy, with Form C and foreign-guest reporting support built in for India.</a:t>
            </a:r>
            <a:endParaRPr lang="en-US" sz="1450" dirty="0"/>
          </a:p>
        </p:txBody>
      </p:sp>
      <p:sp>
        <p:nvSpPr>
          <p:cNvPr id="16" name="Text 10"/>
          <p:cNvSpPr/>
          <p:nvPr/>
        </p:nvSpPr>
        <p:spPr>
          <a:xfrm>
            <a:off x="64008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AYANA</a:t>
            </a:r>
            <a:endParaRPr lang="en-US" sz="900" dirty="0"/>
          </a:p>
        </p:txBody>
      </p:sp>
      <p:sp>
        <p:nvSpPr>
          <p:cNvPr id="17" name="Text 11"/>
          <p:cNvSpPr/>
          <p:nvPr/>
        </p:nvSpPr>
        <p:spPr>
          <a:xfrm>
            <a:off x="1109441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METRICS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0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we’ll measure together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pilot is judged on outcomes both sides care about — not vanity metrics.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33832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pic>
        <p:nvPicPr>
          <p:cNvPr id="6" name="Image 0" descr="/private/tmp/claude-501/-Users-ravikumarkrishnamoorthy-Desktop-JORA-AYANA/c1054895-a8f4-4cc3-8515-2efc1287a3ff/scratchpad/decks/icons/tar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2391156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214884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conversion rate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389120" y="2148840"/>
            <a:ext cx="33832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pic>
        <p:nvPicPr>
          <p:cNvPr id="9" name="Image 1" descr="/private/tmp/claude-501/-Users-ravikumarkrishnamoorthy-Desktop-JORA-AYANA/c1054895-a8f4-4cc3-8515-2efc1287a3ff/scratchpad/decks/icons/targ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0288" y="2391156"/>
            <a:ext cx="292608" cy="2926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983480" y="214884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check-in completion time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8138160" y="2148840"/>
            <a:ext cx="33832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pic>
        <p:nvPicPr>
          <p:cNvPr id="12" name="Image 2" descr="/private/tmp/claude-501/-Users-ravikumarkrishnamoorthy-Desktop-JORA-AYANA/c1054895-a8f4-4cc3-8515-2efc1287a3ff/scratchpad/decks/icons/targe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9328" y="2391156"/>
            <a:ext cx="292608" cy="29260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732520" y="214884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Percentage of self-service check-ins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640080" y="3200400"/>
            <a:ext cx="33832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pic>
        <p:nvPicPr>
          <p:cNvPr id="15" name="Image 3" descr="/private/tmp/claude-501/-Users-ravikumarkrishnamoorthy-Desktop-JORA-AYANA/c1054895-a8f4-4cc3-8515-2efc1287a3ff/scratchpad/decks/icons/targe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3442716"/>
            <a:ext cx="292608" cy="29260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234440" y="320040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Room-ready accuracy at arrival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4389120" y="3200400"/>
            <a:ext cx="33832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pic>
        <p:nvPicPr>
          <p:cNvPr id="18" name="Image 4" descr="/private/tmp/claude-501/-Users-ravikumarkrishnamoorthy-Desktop-JORA-AYANA/c1054895-a8f4-4cc3-8515-2efc1287a3ff/scratchpad/decks/icons/targe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0288" y="3442716"/>
            <a:ext cx="292608" cy="29260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4983480" y="320040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Add-on revenue per booking</a:t>
            </a:r>
            <a:endParaRPr lang="en-US" sz="1200" dirty="0"/>
          </a:p>
        </p:txBody>
      </p:sp>
      <p:sp>
        <p:nvSpPr>
          <p:cNvPr id="20" name="Shape 13"/>
          <p:cNvSpPr/>
          <p:nvPr/>
        </p:nvSpPr>
        <p:spPr>
          <a:xfrm>
            <a:off x="8138160" y="3200400"/>
            <a:ext cx="33832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pic>
        <p:nvPicPr>
          <p:cNvPr id="21" name="Image 5" descr="/private/tmp/claude-501/-Users-ravikumarkrishnamoorthy-Desktop-JORA-AYANA/c1054895-a8f4-4cc3-8515-2efc1287a3ff/scratchpad/decks/icons/targe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39328" y="3442716"/>
            <a:ext cx="292608" cy="292608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8732520" y="320040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check-in rate</a:t>
            </a:r>
            <a:endParaRPr lang="en-US" sz="1200" dirty="0"/>
          </a:p>
        </p:txBody>
      </p:sp>
      <p:sp>
        <p:nvSpPr>
          <p:cNvPr id="23" name="Shape 15"/>
          <p:cNvSpPr/>
          <p:nvPr/>
        </p:nvSpPr>
        <p:spPr>
          <a:xfrm>
            <a:off x="640080" y="4251960"/>
            <a:ext cx="33832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pic>
        <p:nvPicPr>
          <p:cNvPr id="24" name="Image 6" descr="/private/tmp/claude-501/-Users-ravikumarkrishnamoorthy-Desktop-JORA-AYANA/c1054895-a8f4-4cc3-8515-2efc1287a3ff/scratchpad/decks/icons/targe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1248" y="4494276"/>
            <a:ext cx="292608" cy="292608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1234440" y="425196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satisfaction score</a:t>
            </a:r>
            <a:endParaRPr lang="en-US" sz="1200" dirty="0"/>
          </a:p>
        </p:txBody>
      </p:sp>
      <p:sp>
        <p:nvSpPr>
          <p:cNvPr id="26" name="Shape 17"/>
          <p:cNvSpPr/>
          <p:nvPr/>
        </p:nvSpPr>
        <p:spPr>
          <a:xfrm>
            <a:off x="4389120" y="4251960"/>
            <a:ext cx="33832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pic>
        <p:nvPicPr>
          <p:cNvPr id="27" name="Image 7" descr="/private/tmp/claude-501/-Users-ravikumarkrishnamoorthy-Desktop-JORA-AYANA/c1054895-a8f4-4cc3-8515-2efc1287a3ff/scratchpad/decks/icons/target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90288" y="4494276"/>
            <a:ext cx="292608" cy="292608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4983480" y="425196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renewal rate</a:t>
            </a:r>
            <a:endParaRPr lang="en-US" sz="1200" dirty="0"/>
          </a:p>
        </p:txBody>
      </p:sp>
      <p:sp>
        <p:nvSpPr>
          <p:cNvPr id="29" name="Shape 19"/>
          <p:cNvSpPr/>
          <p:nvPr/>
        </p:nvSpPr>
        <p:spPr>
          <a:xfrm>
            <a:off x="8138160" y="4251960"/>
            <a:ext cx="33832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pic>
        <p:nvPicPr>
          <p:cNvPr id="30" name="Image 8" descr="/private/tmp/claude-501/-Users-ravikumarkrishnamoorthy-Desktop-JORA-AYANA/c1054895-a8f4-4cc3-8515-2efc1287a3ff/scratchpad/decks/icons/target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39328" y="4494276"/>
            <a:ext cx="292608" cy="292608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8732520" y="425196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traveller booking rate</a:t>
            </a:r>
            <a:endParaRPr lang="en-US" sz="1200" dirty="0"/>
          </a:p>
        </p:txBody>
      </p:sp>
      <p:sp>
        <p:nvSpPr>
          <p:cNvPr id="32" name="Text 21"/>
          <p:cNvSpPr/>
          <p:nvPr/>
        </p:nvSpPr>
        <p:spPr>
          <a:xfrm>
            <a:off x="64008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AYANA</a:t>
            </a:r>
            <a:endParaRPr lang="en-US" sz="900" dirty="0"/>
          </a:p>
        </p:txBody>
      </p:sp>
      <p:sp>
        <p:nvSpPr>
          <p:cNvPr id="33" name="Text 22"/>
          <p:cNvSpPr/>
          <p:nvPr/>
        </p:nvSpPr>
        <p:spPr>
          <a:xfrm>
            <a:off x="1109441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COMMERCIAL TERMS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0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Proving the model before scaling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2377440" cy="2651760"/>
          </a:xfrm>
          <a:prstGeom prst="roundRect">
            <a:avLst>
              <a:gd name="adj" fmla="val 3846"/>
            </a:avLst>
          </a:prstGeom>
          <a:solidFill>
            <a:srgbClr val="0A0F1C"/>
          </a:solidFill>
          <a:ln/>
        </p:spPr>
      </p:sp>
      <p:sp>
        <p:nvSpPr>
          <p:cNvPr id="5" name="Shape 3"/>
          <p:cNvSpPr/>
          <p:nvPr/>
        </p:nvSpPr>
        <p:spPr>
          <a:xfrm>
            <a:off x="1508760" y="2514600"/>
            <a:ext cx="640080" cy="640080"/>
          </a:xfrm>
          <a:prstGeom prst="ellipse">
            <a:avLst/>
          </a:prstGeom>
          <a:solidFill>
            <a:srgbClr val="161F35"/>
          </a:solidFill>
          <a:ln/>
        </p:spPr>
      </p:sp>
      <p:pic>
        <p:nvPicPr>
          <p:cNvPr id="6" name="Image 0" descr="/private/tmp/claude-501/-Users-ravikumarkrishnamoorthy-Desktop-JORA-AYANA/c1054895-a8f4-4cc3-8515-2efc1287a3ff/scratchpad/decks/icons/map_p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8371" y="2604211"/>
            <a:ext cx="460858" cy="46085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3832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F9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Bengaluru &amp; Hyderabad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402336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9BD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first, global expansion later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474720" y="2194560"/>
            <a:ext cx="2377440" cy="2651760"/>
          </a:xfrm>
          <a:prstGeom prst="roundRect">
            <a:avLst>
              <a:gd name="adj" fmla="val 3846"/>
            </a:avLst>
          </a:prstGeom>
          <a:solidFill>
            <a:srgbClr val="0A0F1C"/>
          </a:solidFill>
          <a:ln/>
        </p:spPr>
      </p:sp>
      <p:sp>
        <p:nvSpPr>
          <p:cNvPr id="10" name="Shape 7"/>
          <p:cNvSpPr/>
          <p:nvPr/>
        </p:nvSpPr>
        <p:spPr>
          <a:xfrm>
            <a:off x="4343400" y="2514600"/>
            <a:ext cx="640080" cy="640080"/>
          </a:xfrm>
          <a:prstGeom prst="ellipse">
            <a:avLst/>
          </a:prstGeom>
          <a:solidFill>
            <a:srgbClr val="161F35"/>
          </a:solidFill>
          <a:ln/>
        </p:spPr>
      </p:sp>
      <p:pic>
        <p:nvPicPr>
          <p:cNvPr id="11" name="Image 1" descr="/private/tmp/claude-501/-Users-ravikumarkrishnamoorthy-Desktop-JORA-AYANA/c1054895-a8f4-4cc3-8515-2efc1287a3ff/scratchpad/decks/icons/briefca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3011" y="2604211"/>
            <a:ext cx="460858" cy="46085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57600" y="33832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F9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&amp; Airport Hotels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657600" y="402336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9BD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Mid-sized to large 3–5 star properties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309360" y="2194560"/>
            <a:ext cx="2377440" cy="2651760"/>
          </a:xfrm>
          <a:prstGeom prst="roundRect">
            <a:avLst>
              <a:gd name="adj" fmla="val 3846"/>
            </a:avLst>
          </a:prstGeom>
          <a:solidFill>
            <a:srgbClr val="0A0F1C"/>
          </a:solidFill>
          <a:ln/>
        </p:spPr>
      </p:sp>
      <p:sp>
        <p:nvSpPr>
          <p:cNvPr id="15" name="Shape 11"/>
          <p:cNvSpPr/>
          <p:nvPr/>
        </p:nvSpPr>
        <p:spPr>
          <a:xfrm>
            <a:off x="7178040" y="2514600"/>
            <a:ext cx="640080" cy="640080"/>
          </a:xfrm>
          <a:prstGeom prst="ellipse">
            <a:avLst/>
          </a:prstGeom>
          <a:solidFill>
            <a:srgbClr val="161F35"/>
          </a:solidFill>
          <a:ln/>
        </p:spPr>
      </p:sp>
      <p:pic>
        <p:nvPicPr>
          <p:cNvPr id="16" name="Image 2" descr="/private/tmp/claude-501/-Users-ravikumarkrishnamoorthy-Desktop-JORA-AYANA/c1054895-a8f4-4cc3-8515-2efc1287a3ff/scratchpad/decks/icons/handshak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7651" y="2604211"/>
            <a:ext cx="460858" cy="46085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92240" y="33832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F9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3–5 Pilot Commitments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492240" y="402336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9BD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Secured before validating the first live PMS connection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9144000" y="2194560"/>
            <a:ext cx="2377440" cy="2651760"/>
          </a:xfrm>
          <a:prstGeom prst="roundRect">
            <a:avLst>
              <a:gd name="adj" fmla="val 3846"/>
            </a:avLst>
          </a:prstGeom>
          <a:solidFill>
            <a:srgbClr val="0A0F1C"/>
          </a:solidFill>
          <a:ln/>
        </p:spPr>
      </p:sp>
      <p:sp>
        <p:nvSpPr>
          <p:cNvPr id="20" name="Shape 15"/>
          <p:cNvSpPr/>
          <p:nvPr/>
        </p:nvSpPr>
        <p:spPr>
          <a:xfrm>
            <a:off x="10012680" y="2514600"/>
            <a:ext cx="640080" cy="640080"/>
          </a:xfrm>
          <a:prstGeom prst="ellipse">
            <a:avLst/>
          </a:prstGeom>
          <a:solidFill>
            <a:srgbClr val="161F35"/>
          </a:solidFill>
          <a:ln/>
        </p:spPr>
      </p:sp>
      <p:pic>
        <p:nvPicPr>
          <p:cNvPr id="21" name="Image 3" descr="/private/tmp/claude-501/-Users-ravikumarkrishnamoorthy-Desktop-JORA-AYANA/c1054895-a8f4-4cc3-8515-2efc1287a3ff/scratchpad/decks/icons/targe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2291" y="2604211"/>
            <a:ext cx="460858" cy="46085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326880" y="33832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F9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 The Model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9326880" y="402336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9BD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check-in wait, lift satisfaction, grow add-on revenue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640080" y="51663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AD8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Goal: demonstrate the HTR journey with realistic sample hotels and simulated integrations — not a nationwide launch.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64008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AYANA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09441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A CONCEPT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A0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working prototype de-risks the pilot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commercial term in this deck is backed by a live, clickable prototype — not a pitch alone.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2377440" cy="32918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508760" y="2560320"/>
            <a:ext cx="640080" cy="640080"/>
          </a:xfrm>
          <a:prstGeom prst="ellipse">
            <a:avLst/>
          </a:prstGeom>
          <a:solidFill>
            <a:srgbClr val="0A0F1C"/>
          </a:solidFill>
          <a:ln/>
        </p:spPr>
      </p:sp>
      <p:pic>
        <p:nvPicPr>
          <p:cNvPr id="7" name="Image 0" descr="/private/tmp/claude-501/-Users-ravikumarkrishnamoorthy-Desktop-JORA-AYANA/c1054895-a8f4-4cc3-8515-2efc1287a3ff/scratchpad/decks/icons/smartpho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8371" y="2649931"/>
            <a:ext cx="460858" cy="46085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42900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A0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Traveller App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22960" y="402336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Search, book, pay, verify identity, Ready-to-Room, digital checkout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474720" y="2286000"/>
            <a:ext cx="2377440" cy="32918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343400" y="2560320"/>
            <a:ext cx="640080" cy="640080"/>
          </a:xfrm>
          <a:prstGeom prst="ellipse">
            <a:avLst/>
          </a:prstGeom>
          <a:solidFill>
            <a:srgbClr val="0A0F1C"/>
          </a:solidFill>
          <a:ln/>
        </p:spPr>
      </p:sp>
      <p:pic>
        <p:nvPicPr>
          <p:cNvPr id="12" name="Image 1" descr="/private/tmp/claude-501/-Users-ravikumarkrishnamoorthy-Desktop-JORA-AYANA/c1054895-a8f4-4cc3-8515-2efc1287a3ff/scratchpad/decks/icons/gri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3011" y="2649931"/>
            <a:ext cx="460858" cy="46085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57600" y="342900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A0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Hotel Operations Dashboard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3657600" y="402336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office, housekeeping, concierge, finance, room management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309360" y="2286000"/>
            <a:ext cx="2377440" cy="32918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178040" y="2560320"/>
            <a:ext cx="640080" cy="640080"/>
          </a:xfrm>
          <a:prstGeom prst="ellipse">
            <a:avLst/>
          </a:prstGeom>
          <a:solidFill>
            <a:srgbClr val="0A0F1C"/>
          </a:solidFill>
          <a:ln/>
        </p:spPr>
      </p:sp>
      <p:pic>
        <p:nvPicPr>
          <p:cNvPr id="17" name="Image 2" descr="/private/tmp/claude-501/-Users-ravikumarkrishnamoorthy-Desktop-JORA-AYANA/c1054895-a8f4-4cc3-8515-2efc1287a3ff/scratchpad/decks/icons/ke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7651" y="2649931"/>
            <a:ext cx="460858" cy="46085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92240" y="342900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A0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Self-Service Kiosk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6492240" y="402336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In (face scan / QR), Check Out (folio &amp; refunds), Other Services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9144000" y="2286000"/>
            <a:ext cx="2377440" cy="32918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10012680" y="2560320"/>
            <a:ext cx="640080" cy="640080"/>
          </a:xfrm>
          <a:prstGeom prst="ellipse">
            <a:avLst/>
          </a:prstGeom>
          <a:solidFill>
            <a:srgbClr val="0A0F1C"/>
          </a:solidFill>
          <a:ln/>
        </p:spPr>
      </p:sp>
      <p:pic>
        <p:nvPicPr>
          <p:cNvPr id="22" name="Image 3" descr="/private/tmp/claude-501/-Users-ravikumarkrishnamoorthy-Desktop-JORA-AYANA/c1054895-a8f4-4cc3-8515-2efc1287a3ff/scratchpad/decks/icons/alert_triang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2291" y="2649931"/>
            <a:ext cx="460858" cy="46085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326880" y="342900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A0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Simulation Control Centre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9326880" y="402336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Live-tests 13 real failure &amp; recovery scenarios end to end</a:t>
            </a:r>
            <a:endParaRPr lang="en-US" sz="1050" dirty="0"/>
          </a:p>
        </p:txBody>
      </p:sp>
      <p:sp>
        <p:nvSpPr>
          <p:cNvPr id="25" name="Text 19"/>
          <p:cNvSpPr/>
          <p:nvPr/>
        </p:nvSpPr>
        <p:spPr>
          <a:xfrm>
            <a:off x="640080" y="58064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 and payments are simulated for demonstration — no live PMS or payment gateway required to evaluate the experience.</a:t>
            </a:r>
            <a:endParaRPr lang="en-US" sz="1150" dirty="0"/>
          </a:p>
        </p:txBody>
      </p:sp>
      <p:sp>
        <p:nvSpPr>
          <p:cNvPr id="26" name="Text 20"/>
          <p:cNvSpPr/>
          <p:nvPr/>
        </p:nvSpPr>
        <p:spPr>
          <a:xfrm>
            <a:off x="64008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AYANA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109441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TO PILOT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BF9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agreement to go-live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short, structured path — designed to reach a live pilot without a full system overhaul.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3200400"/>
            <a:ext cx="1965960" cy="1005840"/>
          </a:xfrm>
          <a:prstGeom prst="roundRect">
            <a:avLst>
              <a:gd name="adj" fmla="val 50000"/>
            </a:avLst>
          </a:prstGeom>
          <a:solidFill>
            <a:srgbClr val="0F1626"/>
          </a:solidFill>
          <a:ln w="12700">
            <a:solidFill>
              <a:srgbClr val="C6A15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20040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BF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agreement</a:t>
            </a:r>
            <a:endParaRPr lang="en-US" sz="1150" dirty="0"/>
          </a:p>
        </p:txBody>
      </p:sp>
      <p:pic>
        <p:nvPicPr>
          <p:cNvPr id="7" name="Image 0" descr="/private/tmp/claude-501/-Users-ravikumarkrishnamoorthy-Desktop-JORA-AYANA/c1054895-a8f4-4cc3-8515-2efc1287a3ff/scratchpad/decks/icons/arrow_r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18613" y="3575304"/>
            <a:ext cx="237744" cy="23774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868930" y="3200400"/>
            <a:ext cx="1965960" cy="1005840"/>
          </a:xfrm>
          <a:prstGeom prst="roundRect">
            <a:avLst>
              <a:gd name="adj" fmla="val 50000"/>
            </a:avLst>
          </a:prstGeom>
          <a:solidFill>
            <a:srgbClr val="0F1626"/>
          </a:solidFill>
          <a:ln w="12700">
            <a:solidFill>
              <a:srgbClr val="C6A15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960370" y="320040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BF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terms sign-off</a:t>
            </a:r>
            <a:endParaRPr lang="en-US" sz="1150" dirty="0"/>
          </a:p>
        </p:txBody>
      </p:sp>
      <p:pic>
        <p:nvPicPr>
          <p:cNvPr id="10" name="Image 1" descr="/private/tmp/claude-501/-Users-ravikumarkrishnamoorthy-Desktop-JORA-AYANA/c1054895-a8f4-4cc3-8515-2efc1287a3ff/scratchpad/decks/icons/arrow_r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7463" y="3575304"/>
            <a:ext cx="237744" cy="237744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5097780" y="3200400"/>
            <a:ext cx="1965960" cy="1005840"/>
          </a:xfrm>
          <a:prstGeom prst="roundRect">
            <a:avLst>
              <a:gd name="adj" fmla="val 50000"/>
            </a:avLst>
          </a:prstGeom>
          <a:solidFill>
            <a:srgbClr val="0F1626"/>
          </a:solidFill>
          <a:ln w="12700">
            <a:solidFill>
              <a:srgbClr val="C6A15B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189220" y="320040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BF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PMS integration</a:t>
            </a:r>
            <a:endParaRPr lang="en-US" sz="1150" dirty="0"/>
          </a:p>
        </p:txBody>
      </p:sp>
      <p:pic>
        <p:nvPicPr>
          <p:cNvPr id="13" name="Image 2" descr="/private/tmp/claude-501/-Users-ravikumarkrishnamoorthy-Desktop-JORA-AYANA/c1054895-a8f4-4cc3-8515-2efc1287a3ff/scratchpad/decks/icons/arrow_righ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6313" y="3575304"/>
            <a:ext cx="237744" cy="237744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7326630" y="3200400"/>
            <a:ext cx="1965960" cy="1005840"/>
          </a:xfrm>
          <a:prstGeom prst="roundRect">
            <a:avLst>
              <a:gd name="adj" fmla="val 50000"/>
            </a:avLst>
          </a:prstGeom>
          <a:solidFill>
            <a:srgbClr val="0F1626"/>
          </a:solidFill>
          <a:ln w="12700">
            <a:solidFill>
              <a:srgbClr val="C6A15B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7418070" y="320040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BF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onboarding</a:t>
            </a:r>
            <a:endParaRPr lang="en-US" sz="1150" dirty="0"/>
          </a:p>
        </p:txBody>
      </p:sp>
      <p:pic>
        <p:nvPicPr>
          <p:cNvPr id="16" name="Image 3" descr="/private/tmp/claude-501/-Users-ravikumarkrishnamoorthy-Desktop-JORA-AYANA/c1054895-a8f4-4cc3-8515-2efc1287a3ff/scratchpad/decks/icons/arrow_righ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05163" y="3575304"/>
            <a:ext cx="237744" cy="237744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9555480" y="3200400"/>
            <a:ext cx="1965960" cy="1005840"/>
          </a:xfrm>
          <a:prstGeom prst="roundRect">
            <a:avLst>
              <a:gd name="adj" fmla="val 50000"/>
            </a:avLst>
          </a:prstGeom>
          <a:solidFill>
            <a:srgbClr val="0F1626"/>
          </a:solidFill>
          <a:ln w="12700">
            <a:solidFill>
              <a:srgbClr val="C6A15B"/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9646920" y="320040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BF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live</a:t>
            </a:r>
            <a:endParaRPr lang="en-US" sz="1150" dirty="0"/>
          </a:p>
        </p:txBody>
      </p:sp>
      <p:sp>
        <p:nvSpPr>
          <p:cNvPr id="19" name="Text 13"/>
          <p:cNvSpPr/>
          <p:nvPr/>
        </p:nvSpPr>
        <p:spPr>
          <a:xfrm>
            <a:off x="640080" y="48463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D9BD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Staff-assisted fallback is available throughout — the pilot never depends on technology working perfectly on day one.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64008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AYANA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1109441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92928" y="1005840"/>
            <a:ext cx="1005840" cy="1005840"/>
          </a:xfrm>
          <a:prstGeom prst="ellipse">
            <a:avLst/>
          </a:prstGeom>
          <a:solidFill>
            <a:srgbClr val="161F35"/>
          </a:solidFill>
          <a:ln/>
        </p:spPr>
      </p:sp>
      <p:pic>
        <p:nvPicPr>
          <p:cNvPr id="3" name="Image 0" descr="/private/tmp/claude-501/-Users-ravikumarkrishnamoorthy-Desktop-JORA-AYANA/c1054895-a8f4-4cc3-8515-2efc1287a3ff/scratchpad/decks/icons/handshak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33745" y="1146658"/>
            <a:ext cx="724205" cy="7242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228600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BF9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Let’s structure a pilot commercial agreement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0" y="310896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D9BD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Commission-based  ·  revenue-aligned  ·  no marketplace middleman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1706728" y="4114800"/>
            <a:ext cx="2834640" cy="1280160"/>
          </a:xfrm>
          <a:prstGeom prst="roundRect">
            <a:avLst>
              <a:gd name="adj" fmla="val 8571"/>
            </a:avLst>
          </a:prstGeom>
          <a:solidFill>
            <a:srgbClr val="0F1626"/>
          </a:solidFill>
          <a:ln w="12700">
            <a:solidFill>
              <a:srgbClr val="212C48"/>
            </a:solidFill>
            <a:prstDash val="solid"/>
          </a:ln>
        </p:spPr>
      </p:sp>
      <p:pic>
        <p:nvPicPr>
          <p:cNvPr id="7" name="Image 1" descr="/private/tmp/claude-501/-Users-ravikumarkrishnamoorthy-Desktop-JORA-AYANA/c1054895-a8f4-4cc3-8515-2efc1287a3ff/scratchpad/decks/icons/handshak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2760" y="4389120"/>
            <a:ext cx="384048" cy="38404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483968" y="4279392"/>
            <a:ext cx="1828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BF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contract, hotel-controlled pricing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4678528" y="4114800"/>
            <a:ext cx="2834640" cy="1280160"/>
          </a:xfrm>
          <a:prstGeom prst="roundRect">
            <a:avLst>
              <a:gd name="adj" fmla="val 8571"/>
            </a:avLst>
          </a:prstGeom>
          <a:solidFill>
            <a:srgbClr val="0F1626"/>
          </a:solidFill>
          <a:ln w="12700">
            <a:solidFill>
              <a:srgbClr val="212C48"/>
            </a:solidFill>
            <a:prstDash val="solid"/>
          </a:ln>
        </p:spPr>
      </p:sp>
      <p:pic>
        <p:nvPicPr>
          <p:cNvPr id="10" name="Image 2" descr="/private/tmp/claude-501/-Users-ravikumarkrishnamoorthy-Desktop-JORA-AYANA/c1054895-a8f4-4cc3-8515-2efc1287a3ff/scratchpad/decks/icons/perce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4560" y="4389120"/>
            <a:ext cx="384048" cy="38404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455768" y="4279392"/>
            <a:ext cx="1828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BF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only on completed bookings</a:t>
            </a:r>
            <a:endParaRPr lang="en-US" sz="1200" dirty="0"/>
          </a:p>
        </p:txBody>
      </p:sp>
      <p:sp>
        <p:nvSpPr>
          <p:cNvPr id="12" name="Shape 7"/>
          <p:cNvSpPr/>
          <p:nvPr/>
        </p:nvSpPr>
        <p:spPr>
          <a:xfrm>
            <a:off x="7650328" y="4114800"/>
            <a:ext cx="2834640" cy="1280160"/>
          </a:xfrm>
          <a:prstGeom prst="roundRect">
            <a:avLst>
              <a:gd name="adj" fmla="val 8571"/>
            </a:avLst>
          </a:prstGeom>
          <a:solidFill>
            <a:srgbClr val="0F1626"/>
          </a:solidFill>
          <a:ln w="12700">
            <a:solidFill>
              <a:srgbClr val="212C48"/>
            </a:solidFill>
            <a:prstDash val="solid"/>
          </a:ln>
        </p:spPr>
      </p:sp>
      <p:pic>
        <p:nvPicPr>
          <p:cNvPr id="13" name="Image 3" descr="/private/tmp/claude-501/-Users-ravikumarkrishnamoorthy-Desktop-JORA-AYANA/c1054895-a8f4-4cc3-8515-2efc1287a3ff/scratchpad/decks/icons/shie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6360" y="4389120"/>
            <a:ext cx="384048" cy="38404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427568" y="4279392"/>
            <a:ext cx="1828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BF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Compliant, tokenised payment handling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64008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AYANA</a:t>
            </a:r>
            <a:endParaRPr lang="en-US" sz="900" dirty="0"/>
          </a:p>
        </p:txBody>
      </p:sp>
      <p:sp>
        <p:nvSpPr>
          <p:cNvPr id="16" name="Text 10"/>
          <p:cNvSpPr/>
          <p:nvPr/>
        </p:nvSpPr>
        <p:spPr>
          <a:xfrm>
            <a:off x="1109441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2026-08-07T22:35:20Z</dcterms:created>
  <dcterms:modified xsi:type="dcterms:W3CDTF">2026-08-07T22:35:20Z</dcterms:modified>
</cp:coreProperties>
</file>