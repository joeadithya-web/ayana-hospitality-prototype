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image" Target="../media/image-13-1.png"/><Relationship Id="rId7" Type="http://schemas.openxmlformats.org/officeDocument/2006/relationships/image" Target="../media/image-13-1.png"/><Relationship Id="rId8" Type="http://schemas.openxmlformats.org/officeDocument/2006/relationships/image" Target="../media/image-13-1.png"/><Relationship Id="rId9" Type="http://schemas.openxmlformats.org/officeDocument/2006/relationships/image" Target="../media/image-13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051560"/>
            <a:ext cx="1005840" cy="100584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3" name="Image 0" descr="/private/tmp/claude-501/-Users-ravikumarkrishnamoorthy-Desktop-JORA-AYANA/c1054895-a8f4-4cc3-8515-2efc1287a3ff/scratchpad/decks/icons/trending_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745" y="1192378"/>
            <a:ext cx="724205" cy="724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AYANA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 OVERVIEW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981048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revenue-aligned partnership — AYANA earns when the hotel earns.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438248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economics, payment model, and partnership terms for hotel partners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Terms  &amp;  Pilot Structure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92024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what the status quo costs you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35440" y="19202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57860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578608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solution, built and demonstrable today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235440" y="25786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36976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23697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236976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— strategic &amp; cost/value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35440" y="323697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95344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89534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89534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&amp; guest payment terms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389534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553712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55371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455371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Corporate, group, and settlement terms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455371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212080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21208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4480" y="52120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metrics &amp; governance alignment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35440" y="521208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87044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587044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54480" y="5870448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Objections, compressed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235440" y="587044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6528816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68680" y="652881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54480" y="6528816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ask, and next steps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35440" y="652881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today’s arrival experience is costing you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a hypothetical — it’s the daily baseline a hotel partner is already absorbing.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377440" cy="31089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371" y="264993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Repetitive Front-Desk Work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arrival re-keys ID, payment, and preferences your systems already saw before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0" y="2286000"/>
            <a:ext cx="2377440" cy="31089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2" name="Image 1" descr="/private/tmp/claude-501/-Users-ravikumarkrishnamoorthy-Desktop-JORA-AYANA/c1054895-a8f4-4cc3-8515-2efc1287a3ff/scratchpad/decks/icons/trending_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011" y="264993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Upsell Revenue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57600" y="40233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 and add-ons go unsold when there’s no moment built to offer them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09360" y="2286000"/>
            <a:ext cx="2377440" cy="31089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7804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7" name="Image 2" descr="/private/tmp/claude-501/-Users-ravikumarkrishnamoorthy-Desktop-JORA-AYANA/c1054895-a8f4-4cc3-8515-2efc1287a3ff/scratchpad/deck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51" y="264993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Guest Data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92240" y="40233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profile follows a repeat guest across visits or your other properties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44000" y="2286000"/>
            <a:ext cx="2377440" cy="31089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1268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2" name="Image 3" descr="/private/tmp/claude-501/-Users-ravikumarkrishnamoorthy-Desktop-JORA-AYANA/c1054895-a8f4-4cc3-8515-2efc1287a3ff/scratchpad/decks/icons/alert_triang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2291" y="2649931"/>
            <a:ext cx="460858" cy="46085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Arrivals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326880" y="40233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quality depends on which shift and which staff member is on duty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AI-powered Home-to-Room platform, not another OTA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is an AI-powered HTR (Home-to-Room) platform for seamless hotel journeys — the full guest journey from planning at home, through booking, payment, and arrival, to checkout and the onward trip.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333756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5453" y="343997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42062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at Home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47091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direct booking</a:t>
            </a:r>
            <a:endParaRPr lang="en-US" sz="1050" dirty="0"/>
          </a:p>
        </p:txBody>
      </p:sp>
      <p:pic>
        <p:nvPicPr>
          <p:cNvPr id="10" name="Image 1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144" y="411480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52800" y="30632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175760" y="333756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3" name="Image 2" descr="/private/tmp/claude-501/-Users-ravikumarkrishnamoorthy-Desktop-JORA-AYANA/c1054895-a8f4-4cc3-8515-2efc1287a3ff/scratchpad/decks/icons/credit_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173" y="3439973"/>
            <a:ext cx="526694" cy="5266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62528" y="42062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&amp; Pay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462528" y="47091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Hotel-approved offers &amp; payment</a:t>
            </a:r>
            <a:endParaRPr lang="en-US" sz="1050" dirty="0"/>
          </a:p>
        </p:txBody>
      </p:sp>
      <p:pic>
        <p:nvPicPr>
          <p:cNvPr id="16" name="Image 3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864" y="4114800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065520" y="30632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888480" y="333756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9" name="Image 4" descr="/private/tmp/claude-501/-Users-ravikumarkrishnamoorthy-Desktop-JORA-AYANA/c1054895-a8f4-4cc3-8515-2efc1287a3ff/scratchpad/decks/icons/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0893" y="3439973"/>
            <a:ext cx="526694" cy="52669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75248" y="42062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Arrival &amp; Room Access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6175248" y="47091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self check-in</a:t>
            </a:r>
            <a:endParaRPr lang="en-US" sz="1050" dirty="0"/>
          </a:p>
        </p:txBody>
      </p:sp>
      <p:pic>
        <p:nvPicPr>
          <p:cNvPr id="22" name="Image 5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2584" y="4114800"/>
            <a:ext cx="256032" cy="25603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778240" y="30632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9601200" y="333756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5" name="Image 6" descr="/private/tmp/claude-501/-Users-ravikumarkrishnamoorthy-Desktop-JORA-AYANA/c1054895-a8f4-4cc3-8515-2efc1287a3ff/scratchpad/decks/icons/refres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3613" y="3439973"/>
            <a:ext cx="526694" cy="52669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887968" y="42062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 &amp; Onward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8887968" y="47091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Invoice, feedback, rebooking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One-line positioning: AYANA is an AI-powered HTR platform for seamless hotel journeys.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prototype de-risks the pilot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commercial term in this deck is backed by a live, clickable prototype — not a pitch alone.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371" y="264993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Traveller App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Dates-first search, corporate &amp; group booking, Ready-to-Room, guest-managed stay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0" y="228600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2" name="Image 1" descr="/private/tmp/claude-501/-Users-ravikumarkrishnamoorthy-Desktop-JORA-AYANA/c1054895-a8f4-4cc3-8515-2efc1287a3ff/scratchpad/decks/icon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011" y="264993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Operations Dashboard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5760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office, housekeeping, concierge, finance, room management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09360" y="228600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7804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7" name="Image 2" descr="/private/tmp/claude-501/-Users-ravikumarkrishnamoorthy-Desktop-JORA-AYANA/c1054895-a8f4-4cc3-8515-2efc1287a3ff/scratchpad/decks/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51" y="264993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 Kiosk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9224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(face scan / QR), real balance collection, live-priced upsell, checkout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44000" y="228600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1268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2" name="Image 3" descr="/private/tmp/claude-501/-Users-ravikumarkrishnamoorthy-Desktop-JORA-AYANA/c1054895-a8f4-4cc3-8515-2efc1287a3ff/scratchpad/decks/icons/alert_triang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2291" y="2649931"/>
            <a:ext cx="460858" cy="46085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Control Centre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32688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Live-tests 13 real failure &amp; recovery scenarios end to end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and payments are simulated for demonstration — no live PMS or payment gateway required to evaluate the experience.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partnership is worth signing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2788920"/>
            <a:ext cx="292608" cy="292608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027" y="2821107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697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consistent, branded arrival experience across every partner property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05840" y="3657600"/>
            <a:ext cx="292608" cy="292608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0" name="Image 1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027" y="3689787"/>
            <a:ext cx="228234" cy="2282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566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Cross-hotel guest loyalty and repeat bookings through one AYANA profile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005840" y="4526280"/>
            <a:ext cx="292608" cy="292608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3" name="Image 2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27" y="4558467"/>
            <a:ext cx="228234" cy="2282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4348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AI-differentiated guest experience without hotel-side engineering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0" y="192024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76656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REVENUE VALUE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766560" y="2788920"/>
            <a:ext cx="292608" cy="292608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8" name="Image 3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747" y="2821107"/>
            <a:ext cx="228234" cy="2282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23760" y="2697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Commission-only revenue share — no upfront platform fee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766560" y="3657600"/>
            <a:ext cx="292608" cy="292608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21" name="Image 4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8747" y="3689787"/>
            <a:ext cx="228234" cy="22823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23760" y="3566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upsell revenue via a live-priced kiosk upgrade moment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766560" y="4526280"/>
            <a:ext cx="292608" cy="292608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24" name="Image 5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747" y="4558467"/>
            <a:ext cx="228234" cy="22823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23760" y="44348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front-desk staffing load at peak arrival hours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AYANA earns — aligned with your bookings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is not a fee-for-access platform. Revenue is earned alongside the hotel’s own bookings, not ahead of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377440" cy="2651760"/>
          </a:xfrm>
          <a:prstGeom prst="roundRect">
            <a:avLst>
              <a:gd name="adj" fmla="val 4615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5453" y="293705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70332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Hotel Contracts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429768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contracts directly with each partner hotel — no intermediary marketplace layer.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74720" y="2514600"/>
            <a:ext cx="2377440" cy="2651760"/>
          </a:xfrm>
          <a:prstGeom prst="roundRect">
            <a:avLst>
              <a:gd name="adj" fmla="val 4615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2" name="Image 1" descr="/private/tmp/claude-501/-Users-ravikumarkrishnamoorthy-Desktop-JORA-AYANA/c1054895-a8f4-4cc3-8515-2efc1287a3ff/scratchpad/decks/icons/per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093" y="2937053"/>
            <a:ext cx="526694" cy="5266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70332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Commission Per Completed Booking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39312" y="429768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earns a commission only when a booking is completed — revenue-aligned, not a flat fee.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309360" y="2514600"/>
            <a:ext cx="2377440" cy="2651760"/>
          </a:xfrm>
          <a:prstGeom prst="roundRect">
            <a:avLst>
              <a:gd name="adj" fmla="val 4615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3232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7" name="Image 2" descr="/private/tmp/claude-501/-Users-ravikumarkrishnamoorthy-Desktop-JORA-AYANA/c1054895-a8f4-4cc3-8515-2efc1287a3ff/scratchpad/decks/icons/credit_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733" y="2937053"/>
            <a:ext cx="526694" cy="5266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Compliant Payment Collection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 payment is collected by AYANA through a compliant, tokenised payment gateway.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144000" y="2514600"/>
            <a:ext cx="2377440" cy="2651760"/>
          </a:xfrm>
          <a:prstGeom prst="roundRect">
            <a:avLst>
              <a:gd name="adj" fmla="val 4615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96696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22" name="Image 3" descr="/private/tmp/claude-501/-Users-ravikumarkrishnamoorthy-Desktop-JORA-AYANA/c1054895-a8f4-4cc3-8515-2efc1287a3ff/scratchpad/decks/icon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9373" y="2937053"/>
            <a:ext cx="526694" cy="5266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08592" y="370332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Agreed Settlement &amp; Payout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308592" y="429768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are settled with hotels under agreed cancellation and payout rules.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9BD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prices remain fully controlled by the hotel — AYANA earns only through its own commission.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ADVANCE TERMS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payment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advance-payment tiers protect both traveller flexibility and hotel-confirmed revenue.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20640" cy="2011680"/>
          </a:xfrm>
          <a:prstGeom prst="roundRect">
            <a:avLst>
              <a:gd name="adj" fmla="val 5455"/>
            </a:avLst>
          </a:prstGeom>
          <a:solidFill>
            <a:srgbClr val="0A0F1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Non-Peak Advance Payment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8587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advance payment collected at booking during non-peak periods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5120640" cy="2011680"/>
          </a:xfrm>
          <a:prstGeom prst="roundRect">
            <a:avLst>
              <a:gd name="adj" fmla="val 5455"/>
            </a:avLst>
          </a:prstGeom>
          <a:solidFill>
            <a:srgbClr val="0A0F1C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766560" y="3520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Advance Payment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38587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advance payment collected at booking during peak periods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5F1E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80060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accounts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instead settle the full stay on account by wire transfer — pre-approved per account at bond signing, so no advance tier applies. 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WhatsApp, email, or phone keep pending self-pay bookings on track to convert.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&amp; GROUP TERMS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commercial lane for accounts and groups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Negotiated at the account level, settled on your terms — not a discount the traveller app hands out on its own.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223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060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per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269565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429000"/>
            <a:ext cx="277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Negotiated Contracted Rate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discount off rack rate, agreed per corporate account when the bond is signed.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19600" y="2286000"/>
            <a:ext cx="33223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39640" y="26060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2" name="Image 1" descr="/private/tmp/claude-501/-Users-ravikumarkrishnamoorthy-Desktop-JORA-AYANA/c1054895-a8f4-4cc3-8515-2efc1287a3ff/scratchpad/decks/icons/credit_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251" y="269565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93920" y="3429000"/>
            <a:ext cx="277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 Wire-Transfer Eligibility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93920" y="402336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transfer only appears for accounts with a signed bond and agreed settlement terms.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99120" y="2286000"/>
            <a:ext cx="33223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19160" y="26060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7" name="Image 2" descr="/private/tmp/claude-501/-Users-ravikumarkrishnamoorthy-Desktop-JORA-AYANA/c1054895-a8f4-4cc3-8515-2efc1287a3ff/scratchpad/deck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771" y="269565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73440" y="3429000"/>
            <a:ext cx="277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Group Bookings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73440" y="402336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guests become one multi-room booking under a shared reference — one quote, one confirmation.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STAYS IN CONTROL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4" name="Image 0" descr="/private/tmp/claude-501/-Users-ravikumarkrishnamoorthy-Desktop-JORA-AYANA/c1054895-a8f4-4cc3-8515-2efc1287a3ff/scratchpad/decks/icons/per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9125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7724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and commercial rules remain yours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108813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2423160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8" name="Image 1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039" y="2457359"/>
            <a:ext cx="242499" cy="2424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36829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prices remain fully controlled by the hotel at all times.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1005840" y="3081528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1" name="Image 2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039" y="3115727"/>
            <a:ext cx="242499" cy="2424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02666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offers only hotel-approved discounts, upgrades, or packages — never an independent price.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1005840" y="3739896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4" name="Image 3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039" y="3774095"/>
            <a:ext cx="242499" cy="24249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8760" y="368503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set price floors, peak-season rules, and cancellation rules; AYANA operates within them.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&amp; REPORTING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financial visibility, built 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hotel’s finance and revenue teams need to reconcile and act, without leaving the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223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060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bar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269565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429000"/>
            <a:ext cx="277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Settlement &amp; Commission Reporting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booking, refund, and commission line reconciled in the hotel dashboard.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19600" y="2286000"/>
            <a:ext cx="33223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39640" y="26060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2" name="Image 1" descr="/private/tmp/claude-501/-Users-ravikumarkrishnamoorthy-Desktop-JORA-AYANA/c1054895-a8f4-4cc3-8515-2efc1287a3ff/scratchpad/decks/icons/trending_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251" y="269565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93920" y="3429000"/>
            <a:ext cx="277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Upsell Dashboard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93920" y="402336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upgrade and add-on revenue by category and by stay.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99120" y="2286000"/>
            <a:ext cx="33223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19160" y="26060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7" name="Image 2" descr="/private/tmp/claude-501/-Users-ravikumarkrishnamoorthy-Desktop-JORA-AYANA/c1054895-a8f4-4cc3-8515-2efc1287a3ff/scratchpad/decks/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771" y="269565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73440" y="3429000"/>
            <a:ext cx="277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Settlement Status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73440" y="402336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Wire-transfer accounts show outstanding vs. settled balance against agreed terms.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TRUST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4" name="Image 0" descr="/private/tmp/claude-501/-Users-ravikumarkrishnamoorthy-Desktop-JORA-AYANA/c1054895-a8f4-4cc3-8515-2efc1287a3ff/scratchpad/decks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9125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7724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guest identity and payment responsibly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108813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2423160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8" name="Image 1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039" y="2457359"/>
            <a:ext cx="242499" cy="2424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36829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consent and privacy controls, with encryption and restricted access to documents and profiles.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1005840" y="3081528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1" name="Image 2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039" y="3115727"/>
            <a:ext cx="242499" cy="2424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02666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Tokenised payments — AYANA never stores raw card details — plus fraud monitoring and manual review.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1005840" y="3739896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4" name="Image 3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039" y="3774095"/>
            <a:ext cx="242499" cy="24249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8760" y="368503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data-retention and deletion policy, with Form C and foreign-guest reporting support built in for India.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measure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is judged on outcomes both sides care about — not vanity metrics.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3911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148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conversion rate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214884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1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239115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83480" y="2148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check-in completion time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138160" y="214884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2" name="Image 2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3911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32520" y="2148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self-service check-ins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0080" y="320040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3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44271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200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Room-ready accuracy at arrival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389120" y="320040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8" name="Image 4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3442716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83480" y="3200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&amp; upsell revenue per booking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8138160" y="320040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1" name="Image 5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3442716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732520" y="3200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check-in rate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40080" y="425196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4" name="Image 6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4494276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234440" y="4251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satisfaction score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4389120" y="425196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7" name="Image 7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0288" y="4494276"/>
            <a:ext cx="292608" cy="29260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983480" y="4251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settlement accuracy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8138160" y="425196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30" name="Image 8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9328" y="4494276"/>
            <a:ext cx="292608" cy="29260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732520" y="4251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traveller booking rate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33" name="Text 22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34" name="Text 23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&amp; GOVERNANCE ALIGNMENT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Who’s involved, and how decisions get made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11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Manager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770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sign-off, pilot go/no-go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Manager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364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rules, rate floors, packages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 &amp; Housekeeping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39593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operations, task assignment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4297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4553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reconciliation, corporate billing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5120640" cy="3200400"/>
          </a:xfrm>
          <a:prstGeom prst="roundRect">
            <a:avLst>
              <a:gd name="adj" fmla="val 3429"/>
            </a:avLst>
          </a:prstGeom>
          <a:solidFill>
            <a:srgbClr val="0A0F1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011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SIDE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2514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27706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terms, bond &amp; wire-transfer setup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3200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34564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integration, pilot build scope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3886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0" y="4142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onboarding, day-one issue response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5F1E7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2578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path: Revenue Manager and Finance confirm pricing &amp; settlement terms → GM signs the pilot agreement → Partnerships and Product schedule the integration and go-live.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COMMERCIAL TERMS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the model before scaling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0A0F1C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514600"/>
            <a:ext cx="640080" cy="64008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6" name="Image 0" descr="/private/tmp/claude-501/-Users-ravikumarkrishnamoorthy-Desktop-JORA-AYANA/c1054895-a8f4-4cc3-8515-2efc1287a3ff/scratchpad/decks/icons/map_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371" y="26042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 &amp; Hyderabad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first, global expansion later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4720" y="21945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0A0F1C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2514600"/>
            <a:ext cx="640080" cy="64008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1" name="Image 1" descr="/private/tmp/claude-501/-Users-ravikumarkrishnamoorthy-Desktop-JORA-AYANA/c1054895-a8f4-4cc3-8515-2efc1287a3ff/scratchpad/decks/icons/brief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011" y="26042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&amp; Airport Hotels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57600" y="4023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to large 3–5 star properties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21945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0A0F1C"/>
          </a:solidFill>
          <a:ln/>
        </p:spPr>
      </p:sp>
      <p:sp>
        <p:nvSpPr>
          <p:cNvPr id="15" name="Shape 11"/>
          <p:cNvSpPr/>
          <p:nvPr/>
        </p:nvSpPr>
        <p:spPr>
          <a:xfrm>
            <a:off x="7178040" y="2514600"/>
            <a:ext cx="640080" cy="64008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6" name="Image 2" descr="/private/tmp/claude-501/-Users-ravikumarkrishnamoorthy-Desktop-JORA-AYANA/c1054895-a8f4-4cc3-8515-2efc1287a3ff/scratchpad/decks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51" y="260421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Pilot Commitments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92240" y="4023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before validating the first live PMS connection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44000" y="21945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0A0F1C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12680" y="2514600"/>
            <a:ext cx="640080" cy="64008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21" name="Image 3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2291" y="260421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Model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26880" y="4023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check-in wait, lift satisfaction, grow add-on revenue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demonstrate the HTR journey with realistic sample hotels and simulated integrations — not a nationwide launch.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OBJECTIONS, COMPRESSED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short version of the questions you’ll ask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— including candid caveats — is in the companion Intro &amp; Objection-Handling deck.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31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“Does this replace our PMS?”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8072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it’s an orchestration layer on top of your existing PMS, not a replacement.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21488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331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 we lose pricing control?”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0" y="28072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AYANA sells only hotel-approved rates, discounts, group and corporate terms.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160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if face-scan or wire transfer fails?”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46360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Staff-assisted fallback throughout; wire transfer requires a signed bond before it’s ever offered.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9776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4160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this a live system yet?”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46360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simulated prototype today — PMS and payment-gateway integration are pilot-stage build items.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we’re asking for, and what you get 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 pilot letter of intent — non-exclusive, scoped to your property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334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334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633472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PMS provider and integration scope with Product &amp; Engineering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4670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4670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346704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commercial terms — commission rate, settlement schedule, corporate/group terms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59936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5993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059936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staff and go live within the 10–20 hotel pilot cohort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FOLLOW-ON DOCUMENTS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5166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AYANA Intro &amp; Objection Handling deck (companion to this one)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production package — source code, screenshots, and concept documentation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Live, clickable prototype — walk the traveller, kiosk, and dashboard yourself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005840"/>
            <a:ext cx="1005840" cy="100584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3" name="Image 0" descr="/private/tmp/claude-501/-Users-ravikumarkrishnamoorthy-Desktop-JORA-AYANA/c1054895-a8f4-4cc3-8515-2efc1287a3ff/scratchpad/decks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745" y="1146658"/>
            <a:ext cx="724205" cy="724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2860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structure a pilot commercial agreement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0" y="31089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Commission-based  ·  revenue-aligned  ·  no marketplace middleman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706728" y="4114800"/>
            <a:ext cx="2834640" cy="1280160"/>
          </a:xfrm>
          <a:prstGeom prst="roundRect">
            <a:avLst>
              <a:gd name="adj" fmla="val 8571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pic>
        <p:nvPicPr>
          <p:cNvPr id="7" name="Image 1" descr="/private/tmp/claude-501/-Users-ravikumarkrishnamoorthy-Desktop-JORA-AYANA/c1054895-a8f4-4cc3-8515-2efc1287a3ff/scratchpad/decks/icons/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760" y="438912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83968" y="4279392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contract, hotel-controlled pricing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678528" y="4114800"/>
            <a:ext cx="2834640" cy="1280160"/>
          </a:xfrm>
          <a:prstGeom prst="roundRect">
            <a:avLst>
              <a:gd name="adj" fmla="val 8571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pic>
        <p:nvPicPr>
          <p:cNvPr id="10" name="Image 2" descr="/private/tmp/claude-501/-Users-ravikumarkrishnamoorthy-Desktop-JORA-AYANA/c1054895-a8f4-4cc3-8515-2efc1287a3ff/scratchpad/decks/icons/per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560" y="438912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55768" y="4279392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only on completed bookings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7650328" y="4114800"/>
            <a:ext cx="2834640" cy="1280160"/>
          </a:xfrm>
          <a:prstGeom prst="roundRect">
            <a:avLst>
              <a:gd name="adj" fmla="val 8571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pic>
        <p:nvPicPr>
          <p:cNvPr id="13" name="Image 3" descr="/private/tmp/claude-501/-Users-ravikumarkrishnamoorthy-Desktop-JORA-AYANA/c1054895-a8f4-4cc3-8515-2efc1287a3ff/scratchpad/decks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6360" y="4389120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27568" y="4279392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Compliant, tokenised payment handling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3809848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Krishnamoorthy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082009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2026-08-08T23:35:59Z</dcterms:created>
  <dcterms:modified xsi:type="dcterms:W3CDTF">2026-08-08T23:35:59Z</dcterms:modified>
</cp:coreProperties>
</file>