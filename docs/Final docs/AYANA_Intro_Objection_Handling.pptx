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2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98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5" y="119237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·  TO  ·  ROOM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981048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Book, verify, personalise, arrive, and check in — with minimal waiting.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38248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Home-to-Room hospitality platform for India’s business and airport hotels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&amp;  Objection Handling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what AYANA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35440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5786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57860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AYANA fits around your PMS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25786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36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23697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Ready-to-Room Guarantee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323697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89534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&amp; hotel-side experience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38953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5371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55371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55371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Corporate, group, and concierge channels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45537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2120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2120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demonstrable today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52120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87044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8704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587044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&amp; pilot plan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35440" y="58704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52881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65288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54480" y="652881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— direct answers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35440" y="6528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still runs on repetition and waiting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TRAVELLER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277538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88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multiple sites, call hotels, negotiate pricing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364992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0" name="Image 1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339717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10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personal details at every property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3986784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3" name="Image 2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4018971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at reception for ID, payment, and room assignment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005840" y="4608576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6" name="Image 3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4640763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553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pickup, food, and local travel separately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005840" y="5230368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9" name="Image 4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5262555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51755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again at checkout to settle up and leave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58368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HOTEL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583680" y="2743200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24" name="Image 5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67" y="2775387"/>
            <a:ext cx="228234" cy="2282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688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front-desk work for every single arrival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583680" y="3364992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27" name="Image 6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67" y="3397179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3310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add-on and upsell revenue at check-in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583680" y="3986784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30" name="Image 7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67" y="4018971"/>
            <a:ext cx="228234" cy="22823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guest data across systems and visits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583680" y="4608576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33" name="Image 8" descr="/private/tmp/claude-501/-Users-ravikumarkrishnamoorthy-Desktop-JORA-AYANA/c1054895-a8f4-4cc3-8515-2efc1287a3ff/scratchpad/decks/icons/x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67" y="4640763"/>
            <a:ext cx="228234" cy="22823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040880" y="4553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unpredictable arrival experiences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AYANA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complete guest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an AI-powered hotel guest-experience platform for India — enabling a traveller to plan, book, pay, personalise, check in, stay, and check out with minimal waiting and no repeated data entry.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158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93" y="31656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Dates-first search, real availability</a:t>
            </a:r>
            <a:endParaRPr lang="en-US" sz="1100" dirty="0"/>
          </a:p>
        </p:txBody>
      </p:sp>
      <p:pic>
        <p:nvPicPr>
          <p:cNvPr id="11" name="Image 1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459" y="388620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0035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7185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4" name="Image 2" descr="/private/tmp/claude-501/-Users-ravikumarkrishnamoorthy-Desktop-JORA-AYANA/c1054895-a8f4-4cc3-8515-2efc1287a3ff/scratchpad/decks/icons/credit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263" y="316565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195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1007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&amp; Pay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91007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preferences, wire transfer</a:t>
            </a:r>
            <a:endParaRPr lang="en-US" sz="1100" dirty="0"/>
          </a:p>
        </p:txBody>
      </p:sp>
      <p:pic>
        <p:nvPicPr>
          <p:cNvPr id="18" name="Image 3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729" y="388620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6062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53212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4" descr="/private/tmp/claude-501/-Users-ravikumarkrishnamoorthy-Desktop-JORA-AYANA/c1054895-a8f4-4cc3-8515-2efc1287a3ff/scratchpad/decks/icons/user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533" y="3165653"/>
            <a:ext cx="526694" cy="5266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3222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07034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07034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payment confirmed</a:t>
            </a:r>
            <a:endParaRPr lang="en-US" sz="1100" dirty="0"/>
          </a:p>
        </p:txBody>
      </p:sp>
      <p:pic>
        <p:nvPicPr>
          <p:cNvPr id="25" name="Image 5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999" y="3886200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12089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69239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8" name="Image 6" descr="/private/tmp/claude-501/-Users-ravikumarkrishnamoorthy-Desktop-JORA-AYANA/c1054895-a8f4-4cc3-8515-2efc1287a3ff/scratchpad/decks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4803" y="3165653"/>
            <a:ext cx="526694" cy="52669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49249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23061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3061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 &amp; key</a:t>
            </a:r>
            <a:endParaRPr lang="en-US" sz="1100" dirty="0"/>
          </a:p>
        </p:txBody>
      </p:sp>
      <p:pic>
        <p:nvPicPr>
          <p:cNvPr id="32" name="Image 7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269" y="3886200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28116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5266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5" name="Image 8" descr="/private/tmp/claude-501/-Users-ravikumarkrishnamoorthy-Desktop-JORA-AYANA/c1054895-a8f4-4cc3-8515-2efc1287a3ff/scratchpad/decks/icons/headphon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5073" y="3165653"/>
            <a:ext cx="526694" cy="52669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6527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39088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&amp; Go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39088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chat, checkout, invoice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promise: book, verify, personalise, arrive, enter your room, and check out — with minimal waiting.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AYANA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replace your PMS — we orchestrate the guest journey around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682" y="255081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</a:t>
            </a:r>
            <a:endParaRPr lang="en-US" sz="1400" dirty="0"/>
          </a:p>
        </p:txBody>
      </p:sp>
      <p:pic>
        <p:nvPicPr>
          <p:cNvPr id="8" name="Image 1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144" y="2843784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356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A0F1C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40352" y="24688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282" y="2550810"/>
            <a:ext cx="421356" cy="421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71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 App</a:t>
            </a:r>
            <a:endParaRPr lang="en-US" sz="1400" dirty="0"/>
          </a:p>
        </p:txBody>
      </p:sp>
      <p:pic>
        <p:nvPicPr>
          <p:cNvPr id="13" name="Image 3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843784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312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72359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4" descr="/private/tmp/claude-501/-Users-ravikumarkrishnamoorthy-Desktop-JORA-AYANA/c1054895-a8f4-4cc3-8515-2efc1287a3ff/scratchpad/decks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7882" y="2550810"/>
            <a:ext cx="421356" cy="4213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227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PMS</a:t>
            </a:r>
            <a:endParaRPr lang="en-US" sz="1400" dirty="0"/>
          </a:p>
        </p:txBody>
      </p:sp>
      <p:pic>
        <p:nvPicPr>
          <p:cNvPr id="18" name="Image 5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344" y="2843784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3268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101315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6" descr="/private/tmp/claude-501/-Users-ravikumarkrishnamoorthy-Desktop-JORA-AYANA/c1054895-a8f4-4cc3-8515-2efc1287a3ff/scratchpad/decks/icons/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482" y="2550810"/>
            <a:ext cx="421356" cy="4213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4183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 •  Identity  •  Preferences  •  Services  •  Concierge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5F1E7"/>
          </a:solidFill>
          <a:ln/>
        </p:spPr>
      </p:sp>
      <p:sp>
        <p:nvSpPr>
          <p:cNvPr id="25" name="Text 16"/>
          <p:cNvSpPr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platforms </a:t>
            </a:r>
            <a:r>
              <a:rPr lang="en-US" sz="14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(OPERA, Mews, and similar) run the hotel: rooms, reservations, billing, housekeeping, keys.  </a:t>
            </a: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</a:t>
            </a:r>
            <a:r>
              <a:rPr lang="en-US" sz="14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traveller journey across partner hotels and integrates with your existing PMS.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AYANA Ready-to-Room Guarantee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guest leaves the airport or station, AYANA confirms all four — or sends an early exception message with a recovery offer.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user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53" y="29370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is verified</a:t>
            </a:r>
            <a:endParaRPr lang="en-US" sz="1500" dirty="0"/>
          </a:p>
        </p:txBody>
      </p:sp>
      <p:pic>
        <p:nvPicPr>
          <p:cNvPr id="9" name="Image 1" descr="/private/tmp/claude-501/-Users-ravikumarkrishnamoorthy-Desktop-JORA-AYANA/c1054895-a8f4-4cc3-8515-2efc1287a3ff/scratchpad/decks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438912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redit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093" y="293705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is authorised</a:t>
            </a:r>
            <a:endParaRPr lang="en-US" sz="1500" dirty="0"/>
          </a:p>
        </p:txBody>
      </p:sp>
      <p:pic>
        <p:nvPicPr>
          <p:cNvPr id="14" name="Image 3" descr="/private/tmp/claude-501/-Users-ravikumarkrishnamoorthy-Desktop-JORA-AYANA/c1054895-a8f4-4cc3-8515-2efc1287a3ff/scratchpad/decks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4389120"/>
            <a:ext cx="292608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0936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13232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7" name="Image 4" descr="/private/tmp/claude-501/-Users-ravikumarkrishnamoorthy-Desktop-JORA-AYANA/c1054895-a8f4-4cc3-8515-2efc1287a3ff/scratchpad/decks/icons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733" y="2937053"/>
            <a:ext cx="526694" cy="5266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4652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is ready</a:t>
            </a:r>
            <a:endParaRPr lang="en-US" sz="1500" dirty="0"/>
          </a:p>
        </p:txBody>
      </p:sp>
      <p:pic>
        <p:nvPicPr>
          <p:cNvPr id="19" name="Image 5" descr="/private/tmp/claude-501/-Users-ravikumarkrishnamoorthy-Desktop-JORA-AYANA/c1054895-a8f4-4cc3-8515-2efc1287a3ff/scratchpad/decks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4389120"/>
            <a:ext cx="292608" cy="29260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14400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996696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2" name="Image 6" descr="/private/tmp/claude-501/-Users-ravikumarkrishnamoorthy-Desktop-JORA-AYANA/c1054895-a8f4-4cc3-8515-2efc1287a3ff/scratchpad/decks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9373" y="2937053"/>
            <a:ext cx="526694" cy="52669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28116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/ check-in path is ready</a:t>
            </a:r>
            <a:endParaRPr lang="en-US" sz="1500" dirty="0"/>
          </a:p>
        </p:txBody>
      </p:sp>
      <p:pic>
        <p:nvPicPr>
          <p:cNvPr id="24" name="Image 7" descr="/private/tmp/claude-501/-Users-ravikumarkrishnamoorthy-Desktop-JORA-AYANA/c1054895-a8f4-4cc3-8515-2efc1287a3ff/scratchpad/decks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438912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9BD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goes straight to the room — no queue, no repeated forms, no surprises.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guest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Dates-First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dates &amp; party size; only real, available rooms are shown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user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730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Pre-Arrival Verification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9392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capture, digital registration, secure payment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912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344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25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&amp; Group Booking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7344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rates, wire transfer, and linked 7+ guest group bookings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10" y="45116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/ Kiosk / Mobile Key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to the room, staff fallback always available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960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392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6" name="Image 4" descr="/private/tmp/claude-501/-Users-ravikumarkrishnamoorthy-Desktop-JORA-AYANA/c1054895-a8f4-4cc3-8515-2efc1287a3ff/scratchpad/decks/icons/message_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730" y="451165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392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Concierge Chat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9392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answers from the live folio, AYANA Memory, and service catalog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912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344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1" name="Image 5" descr="/private/tmp/claude-501/-Users-ravikumarkrishnamoorthy-Desktop-JORA-AYANA/c1054895-a8f4-4cc3-8515-2efc1287a3ff/scratchpad/decks/icons/refre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0250" y="451165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344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Guest-Managed Stay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7344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a real refund ladder, modify dates, or pay for an upgrade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team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Arrivals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arrivals, guest requests, exceptions at a glance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730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Integration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9392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rates, room assignment, billing, checkout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912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344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25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Assignment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7344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Housekeeping, bell desk, transport, front office, concierge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trending_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10" y="45116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Upsell, Priced Live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upgrade or dining/spa offered at check-in, paid on the spot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960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392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6" name="Image 4" descr="/private/tmp/claude-501/-Users-ravikumarkrishnamoorthy-Desktop-JORA-AYANA/c1054895-a8f4-4cc3-8515-2efc1287a3ff/scratchpad/decks/icons/bar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730" y="451165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392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&amp; Reporting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9392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commission, and corporate wire-transfer settlement status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912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344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1" name="Image 5" descr="/private/tmp/claude-501/-Users-ravikumarkrishnamoorthy-Desktop-JORA-AYANA/c1054895-a8f4-4cc3-8515-2efc1287a3ff/scratchpad/decks/icons/message_squ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0250" y="451165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344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Feedback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7344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captured at every checkout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accounts and group bookings,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footer-level channels alongside normal booking, for the guests who don’t fit a single-room, self-pay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user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933" y="29370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Sign-In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logs in to its own agreement, then books normally at its contracted rate.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2514600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credi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3" y="293705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Transfer On File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0916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at bond signing — no gateway step, no card entry, one click to confirm.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2514600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5548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893" y="293705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Group Bookings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54964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guests become one multi-room booking sharing a single group reference.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credentials are collected in this prototype — corporate access is demo-seeded per account.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IN-STAY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stay doesn’t end at the room key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in-stay hub with a real folio, a data-driven concierge, and guest-managed changes — not a static confirmation screen.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223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/ Modify / Upgrade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77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before or during the stay, quoted from the hotel’s real cancellation ladder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9600" y="2286000"/>
            <a:ext cx="33223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964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message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251" y="26956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392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Concierge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93920" y="4023360"/>
            <a:ext cx="277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replies from the live folio balance, AYANA Memory, and the actual service catalog — not canned text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9120" y="2286000"/>
            <a:ext cx="33223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916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map_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771" y="26956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344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Next?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73440" y="4023360"/>
            <a:ext cx="277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Cross-hotel AI recommendations into other AYANA cities, offered at checkout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demonstrable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simulated prototype covers the full guest journey — live, clickable, and testable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37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Dates-first search, corporate &amp; group booking, Ready-to-Room, guest-managed stay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011" y="26499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 Dashboard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housekeeping, concierge, finance, room management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1" y="26499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9224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(face scan / QR), real balance collection, live-priced upsell, checkout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alert_triang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291" y="264993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Control Centre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Live-tests 13 real failure &amp; recovery scenarios end to 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payments are simulated for demonstration. A persistent demo switcher jumps between all four surfaces without knowing the URLs.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&amp; pilot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map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371" y="2604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&amp; Hyderabad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first, global expansion later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011" y="26042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Airport Hotels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to large 3–5 star properties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1" y="26042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Hotels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contracted partner inventory only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268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smart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291" y="26042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Surfaces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app + hotel operations dashboard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focus: business travellers and airport-adjacent stays, where repeated waiting and repeated data entry hurt the most.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message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5" y="20610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Questions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answers to the questions every hotel partner asks first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this replace our PMS or our front-desk staff?”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AYANA is an orchestration layer for the traveller journey — your PMS still runs rooms, reservations, billing, and housekeeping.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Staff-assisted fallback is always available for failed verification, payment issues, room changes, or any guest needing help.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CONCESSION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live PMS integration built yet — the pilot’s first technical milestone is exactly that connection, not a nice-to-have we can defer.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guests trust a face-scan or biometric check-in?”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starts with QR / barcode, ID document, and selfie/liveness verification — not iris scanning.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face scan doesn’t match, the guest automatically falls back to QR or a staff-assisted lookup — never a dead end.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accuracy in the field depends on kiosk camera quality and lighting we haven’t tested yet — that’s exactly why fallback is the default path, not an edge case bolted on later.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wifi_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happens when the technology fails — kiosk down, WiFi down?”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has a designed recovery path: kiosk offline, network failure, PMS offline, and more.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fallback is the same in every case: “please see Front Office — your booking is safe.”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scenarios are demoed live today in the Simulation Control Centre, but none of them has run yet against a real hotel’s WiFi or a real PMS outage — the pilot is where that gets proven.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our guests’ identity and payment data secure?”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and privacy controls, with encryption and restricted access to documents and profiles.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data-retention and deletion policy, with Form C and foreign-guest reporting support built in for India.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 the prototype are fully simulated today — no card is ever charged. The tokenised-gateway integration and fraud monitoring are pilot-stage build items, not something already live in production.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per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this take away our control over room pricing — including corporate rates?”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prices remain fully controlled by the hotel at all times; AYANA offers only hotel-approved discounts, upgrades, or packages.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rates are negotiated and fixed at bond signing, the same as any corporate agreement you already run — AYANA does not discount unilaterally.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set price floors, peak-season rules, and cancellation rules; every quote in the app — including group and corporate — is computed within those bounds, never around them.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does wire-transfer corporate billing avoid becoming a credit risk?”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 is only enabled per corporate account after a signed bond with agreed settlement terms (for example, Net 30).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account with no signed bond never sees the wire-transfer option — it books like any other guest, paying upfront.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CONCESSION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enforcement — chasing an overdue Net-30 invoice — sits outside this prototype entirely; today it’s a flag the hotel’s finance team would still need to act on manually.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8668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integration effort does this require from us?”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263621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priority is the PMS provider with the fastest feasible supported API for the pilot hotels.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3172968"/>
            <a:ext cx="274320" cy="274320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3203143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is deliberately narrow: bookings, arrivals, guest requests, and room-readiness — not a full system overhaul.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0F1C"/>
          </a:solidFill>
          <a:ln/>
        </p:spPr>
      </p:sp>
      <p:sp>
        <p:nvSpPr>
          <p:cNvPr id="15" name="Text 10"/>
          <p:cNvSpPr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dashboard, task assignment, and reporting are ready to use from day one of the pilot — but they run on simulated data until your PMS connection is live.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5" y="11466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pilot AYANA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&amp; Hyderabad  •  Business &amp; airport hotels  •  10–20 directly contracted partners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0672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0672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250" dirty="0"/>
          </a:p>
        </p:txBody>
      </p:sp>
      <p:pic>
        <p:nvPicPr>
          <p:cNvPr id="8" name="Image 1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416" y="4535424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0128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0128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integration</a:t>
            </a:r>
            <a:endParaRPr lang="en-US" sz="1250" dirty="0"/>
          </a:p>
        </p:txBody>
      </p:sp>
      <p:pic>
        <p:nvPicPr>
          <p:cNvPr id="11" name="Image 2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4535424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9584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09584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</a:t>
            </a:r>
            <a:endParaRPr lang="en-US" sz="1250" dirty="0"/>
          </a:p>
        </p:txBody>
      </p:sp>
      <p:pic>
        <p:nvPicPr>
          <p:cNvPr id="14" name="Image 3" descr="/private/tmp/claude-501/-Users-ravikumarkrishnamoorthy-Desktop-JORA-AYANA/c1054895-a8f4-4cc3-8515-2efc1287a3ff/scratchpad/decks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536" y="4535424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9040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9040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1875</Words>
  <Application>Microsoft Macintosh PowerPoint</Application>
  <PresentationFormat>Widescreen</PresentationFormat>
  <Paragraphs>287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 Kumar Krishnamoorthy</cp:lastModifiedBy>
  <cp:revision>2</cp:revision>
  <dcterms:created xsi:type="dcterms:W3CDTF">2026-08-08T23:35:59Z</dcterms:created>
  <dcterms:modified xsi:type="dcterms:W3CDTF">2026-08-10T07:26:13Z</dcterms:modified>
</cp:coreProperties>
</file>